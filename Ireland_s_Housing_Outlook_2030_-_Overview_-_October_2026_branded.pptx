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66" r:id="rId5"/>
    <p:sldId id="274" r:id="rId6"/>
    <p:sldId id="275" r:id="rId7"/>
    <p:sldId id="276" r:id="rId8"/>
    <p:sldId id="257" r:id="rId9"/>
    <p:sldId id="277" r:id="rId10"/>
    <p:sldId id="278" r:id="rId11"/>
    <p:sldId id="279" r:id="rId12"/>
    <p:sldId id="280" r:id="rId13"/>
    <p:sldId id="282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D356F7-5299-1AED-D6B9-A8659F28B96A}" v="64" dt="2026-10-20T14:10:25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ynes" userId="S::william.hynes@spatialis.ie::bf2a35c1-872e-4988-b8fc-4ba4f830ddc1" providerId="AD" clId="Web-{CFD356F7-5299-1AED-D6B9-A8659F28B96A}"/>
    <pc:docChg chg="delSld modSld sldOrd">
      <pc:chgData name="William Hynes" userId="S::william.hynes@spatialis.ie::bf2a35c1-872e-4988-b8fc-4ba4f830ddc1" providerId="AD" clId="Web-{CFD356F7-5299-1AED-D6B9-A8659F28B96A}" dt="2026-10-20T14:10:25.929" v="73"/>
      <pc:docMkLst>
        <pc:docMk/>
      </pc:docMkLst>
      <pc:sldChg chg="del">
        <pc:chgData name="William Hynes" userId="S::william.hynes@spatialis.ie::bf2a35c1-872e-4988-b8fc-4ba4f830ddc1" providerId="AD" clId="Web-{CFD356F7-5299-1AED-D6B9-A8659F28B96A}" dt="2026-10-20T14:04:47.651" v="26"/>
        <pc:sldMkLst>
          <pc:docMk/>
          <pc:sldMk cId="0" sldId="256"/>
        </pc:sldMkLst>
      </pc:sldChg>
      <pc:sldChg chg="delSp modSp">
        <pc:chgData name="William Hynes" userId="S::william.hynes@spatialis.ie::bf2a35c1-872e-4988-b8fc-4ba4f830ddc1" providerId="AD" clId="Web-{CFD356F7-5299-1AED-D6B9-A8659F28B96A}" dt="2026-10-20T14:10:25.929" v="73"/>
        <pc:sldMkLst>
          <pc:docMk/>
          <pc:sldMk cId="0" sldId="257"/>
        </pc:sldMkLst>
        <pc:spChg chg="mod">
          <ac:chgData name="William Hynes" userId="S::william.hynes@spatialis.ie::bf2a35c1-872e-4988-b8fc-4ba4f830ddc1" providerId="AD" clId="Web-{CFD356F7-5299-1AED-D6B9-A8659F28B96A}" dt="2026-10-20T14:08:23.049" v="52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William Hynes" userId="S::william.hynes@spatialis.ie::bf2a35c1-872e-4988-b8fc-4ba4f830ddc1" providerId="AD" clId="Web-{CFD356F7-5299-1AED-D6B9-A8659F28B96A}" dt="2026-10-20T14:10:25.929" v="73"/>
          <ac:spMkLst>
            <pc:docMk/>
            <pc:sldMk cId="0" sldId="257"/>
            <ac:spMk id="4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63"/>
          <ac:spMkLst>
            <pc:docMk/>
            <pc:sldMk cId="0" sldId="257"/>
            <ac:spMk id="6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62"/>
          <ac:spMkLst>
            <pc:docMk/>
            <pc:sldMk cId="0" sldId="257"/>
            <ac:spMk id="7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60"/>
          <ac:spMkLst>
            <pc:docMk/>
            <pc:sldMk cId="0" sldId="257"/>
            <ac:spMk id="9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59"/>
          <ac:spMkLst>
            <pc:docMk/>
            <pc:sldMk cId="0" sldId="257"/>
            <ac:spMk id="10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57"/>
          <ac:spMkLst>
            <pc:docMk/>
            <pc:sldMk cId="0" sldId="257"/>
            <ac:spMk id="12" creationId="{00000000-0000-0000-0000-000000000000}"/>
          </ac:spMkLst>
        </pc:spChg>
        <pc:spChg chg="del">
          <ac:chgData name="William Hynes" userId="S::william.hynes@spatialis.ie::bf2a35c1-872e-4988-b8fc-4ba4f830ddc1" providerId="AD" clId="Web-{CFD356F7-5299-1AED-D6B9-A8659F28B96A}" dt="2026-10-20T14:09:26.692" v="56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William Hynes" userId="S::william.hynes@spatialis.ie::bf2a35c1-872e-4988-b8fc-4ba4f830ddc1" providerId="AD" clId="Web-{CFD356F7-5299-1AED-D6B9-A8659F28B96A}" dt="2026-10-20T14:09:26.692" v="65"/>
          <ac:spMkLst>
            <pc:docMk/>
            <pc:sldMk cId="0" sldId="257"/>
            <ac:spMk id="14" creationId="{54030D0A-F0E3-D9A6-853E-68C8FA0CF310}"/>
          </ac:spMkLst>
        </pc:spChg>
        <pc:picChg chg="del">
          <ac:chgData name="William Hynes" userId="S::william.hynes@spatialis.ie::bf2a35c1-872e-4988-b8fc-4ba4f830ddc1" providerId="AD" clId="Web-{CFD356F7-5299-1AED-D6B9-A8659F28B96A}" dt="2026-10-20T14:09:26.692" v="64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William Hynes" userId="S::william.hynes@spatialis.ie::bf2a35c1-872e-4988-b8fc-4ba4f830ddc1" providerId="AD" clId="Web-{CFD356F7-5299-1AED-D6B9-A8659F28B96A}" dt="2026-10-20T14:09:26.692" v="61"/>
          <ac:picMkLst>
            <pc:docMk/>
            <pc:sldMk cId="0" sldId="257"/>
            <ac:picMk id="8" creationId="{00000000-0000-0000-0000-000000000000}"/>
          </ac:picMkLst>
        </pc:picChg>
        <pc:picChg chg="del">
          <ac:chgData name="William Hynes" userId="S::william.hynes@spatialis.ie::bf2a35c1-872e-4988-b8fc-4ba4f830ddc1" providerId="AD" clId="Web-{CFD356F7-5299-1AED-D6B9-A8659F28B96A}" dt="2026-10-20T14:09:26.692" v="58"/>
          <ac:picMkLst>
            <pc:docMk/>
            <pc:sldMk cId="0" sldId="257"/>
            <ac:picMk id="11" creationId="{00000000-0000-0000-0000-000000000000}"/>
          </ac:picMkLst>
        </pc:picChg>
      </pc:sldChg>
      <pc:sldChg chg="del">
        <pc:chgData name="William Hynes" userId="S::william.hynes@spatialis.ie::bf2a35c1-872e-4988-b8fc-4ba4f830ddc1" providerId="AD" clId="Web-{CFD356F7-5299-1AED-D6B9-A8659F28B96A}" dt="2026-10-20T14:05:25.293" v="28"/>
        <pc:sldMkLst>
          <pc:docMk/>
          <pc:sldMk cId="0" sldId="262"/>
        </pc:sldMkLst>
      </pc:sldChg>
      <pc:sldChg chg="del">
        <pc:chgData name="William Hynes" userId="S::william.hynes@spatialis.ie::bf2a35c1-872e-4988-b8fc-4ba4f830ddc1" providerId="AD" clId="Web-{CFD356F7-5299-1AED-D6B9-A8659F28B96A}" dt="2026-10-20T14:05:22.218" v="27"/>
        <pc:sldMkLst>
          <pc:docMk/>
          <pc:sldMk cId="0" sldId="263"/>
        </pc:sldMkLst>
      </pc:sldChg>
      <pc:sldChg chg="modSp">
        <pc:chgData name="William Hynes" userId="S::william.hynes@spatialis.ie::bf2a35c1-872e-4988-b8fc-4ba4f830ddc1" providerId="AD" clId="Web-{CFD356F7-5299-1AED-D6B9-A8659F28B96A}" dt="2026-10-20T14:07:28.235" v="32" actId="1076"/>
        <pc:sldMkLst>
          <pc:docMk/>
          <pc:sldMk cId="0" sldId="266"/>
        </pc:sldMkLst>
        <pc:spChg chg="mod">
          <ac:chgData name="William Hynes" userId="S::william.hynes@spatialis.ie::bf2a35c1-872e-4988-b8fc-4ba4f830ddc1" providerId="AD" clId="Web-{CFD356F7-5299-1AED-D6B9-A8659F28B96A}" dt="2026-10-20T14:07:28.235" v="32" actId="1076"/>
          <ac:spMkLst>
            <pc:docMk/>
            <pc:sldMk cId="0" sldId="266"/>
            <ac:spMk id="42" creationId="{00000000-0000-0000-0000-000000000000}"/>
          </ac:spMkLst>
        </pc:spChg>
        <pc:spChg chg="mod">
          <ac:chgData name="William Hynes" userId="S::william.hynes@spatialis.ie::bf2a35c1-872e-4988-b8fc-4ba4f830ddc1" providerId="AD" clId="Web-{CFD356F7-5299-1AED-D6B9-A8659F28B96A}" dt="2026-10-20T14:04:16.604" v="24" actId="20577"/>
          <ac:spMkLst>
            <pc:docMk/>
            <pc:sldMk cId="0" sldId="266"/>
            <ac:spMk id="43" creationId="{00000000-0000-0000-0000-000000000000}"/>
          </ac:spMkLst>
        </pc:spChg>
      </pc:sldChg>
      <pc:sldChg chg="ord">
        <pc:chgData name="William Hynes" userId="S::william.hynes@spatialis.ie::bf2a35c1-872e-4988-b8fc-4ba4f830ddc1" providerId="AD" clId="Web-{CFD356F7-5299-1AED-D6B9-A8659F28B96A}" dt="2026-10-20T14:04:38.182" v="25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2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A. Petrol field, reverse lockup, petrol dissolving down into a paper base. The most straightforward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B241-B55F-A24C-02C6-F82A50E3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61FDE-BE08-40A3-460E-8BF6842F6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0A3FA-E90C-8CE7-4C05-6CAC11A55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84BE2-FB2F-F260-1983-977374944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2B46-D706-3F89-9B7D-53B88B82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15B67-175D-B7FA-7593-E5095218E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33CED-A53E-0604-99EF-C84D8DEF2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DBDCD-0DD0-A97C-B58E-6473FE15E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35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CCE33-2A9C-1753-3844-C26153E29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37021-6808-26F8-14AA-9008770F8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DE3FE-83D9-AFF9-9D44-6DCD9BBE8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EE9C9-7452-6736-6EF3-984AA71D4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24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2F73-2CF4-FF99-0FFD-87F629ED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5E6D3-537B-1D7B-CAD1-A3AC004C0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465C1-1B0C-F971-2534-8867AACEE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1307A-96A6-4F69-1E74-7256E633D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61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036D-9F67-AB10-9E55-687F7C3E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26656-57DF-F8BB-7EDB-47C3343E4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EF858-4757-80CE-EF87-139DCA9F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D4C2F-0A9B-A12B-65C0-F25238513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04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3169-F539-7FD2-DB50-AB58552A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6AC87-6D97-177D-9937-6D20DCD2E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E100D-217D-054C-D01F-54A6E4B3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AF0C3-9DD9-FB2C-3566-290CA726E4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47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2C89F-8293-2622-229B-769C6A60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2EB42-B5E3-EF03-4665-058E7627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0DC5E-50D7-F577-FF64-5A85F22D6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F8140-E0A0-9B86-92B5-252185352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75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F5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0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50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5206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82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86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62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38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0966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75429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338377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704137" y="489204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069897" y="4892040"/>
            <a:ext cx="121798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46304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0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054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30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10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669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338377" y="525780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069897" y="5257800"/>
            <a:ext cx="121798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91840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50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30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4934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1510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778149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972617" y="562356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91840" y="5989320"/>
            <a:ext cx="365760" cy="365760"/>
          </a:xfrm>
          <a:prstGeom prst="rect">
            <a:avLst/>
          </a:prstGeom>
          <a:solidFill>
            <a:srgbClr val="173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914400" y="25836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>
                <a:solidFill>
                  <a:srgbClr val="F5F3EF"/>
                </a:solidFill>
                <a:latin typeface="IBM Plex Sans"/>
              </a:rPr>
              <a:t>Ireland’s Housing Outlook to 2030</a:t>
            </a:r>
          </a:p>
          <a:p>
            <a:r>
              <a:rPr lang="en-US" sz="3000" b="1" dirty="0">
                <a:solidFill>
                  <a:srgbClr val="F5F3EF"/>
                </a:solidFill>
                <a:latin typeface="IBM Plex Sans"/>
              </a:rPr>
              <a:t>Overview of Approa</a:t>
            </a:r>
            <a:r>
              <a:rPr lang="en-US" sz="3000" b="1">
                <a:solidFill>
                  <a:srgbClr val="F5F3EF"/>
                </a:solidFill>
                <a:latin typeface="IBM Plex Sans"/>
              </a:rPr>
              <a:t>ch</a:t>
            </a:r>
            <a:endParaRPr lang="en-US" sz="3000" b="1" dirty="0">
              <a:solidFill>
                <a:srgbClr val="F5F3EF"/>
              </a:solidFill>
              <a:latin typeface="IBM Plex San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932688" y="3730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A9BCC0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Prepared for IHBA ·  October 2026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32688" y="4224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270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spatialis.ie</a:t>
            </a:r>
            <a:endParaRPr lang="en-US" sz="1200" dirty="0"/>
          </a:p>
        </p:txBody>
      </p:sp>
      <p:pic>
        <p:nvPicPr>
          <p:cNvPr id="45" name="Image 1" descr="logo_white.png">
            <a:extLst>
              <a:ext uri="{FF2B5EF4-FFF2-40B4-BE49-F238E27FC236}">
                <a16:creationId xmlns:a16="http://schemas.microsoft.com/office/drawing/2014/main" id="{0387B603-7536-9F42-D2EA-C09F3139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1137102"/>
            <a:ext cx="2644726" cy="1468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recto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team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640080" y="1162524"/>
            <a:ext cx="1463040" cy="1828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23774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000" b="1" dirty="0">
                <a:solidFill>
                  <a:srgbClr val="173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Professor William Hynes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37744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B55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Director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0080" y="32004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Clr>
                <a:srgbClr val="B5502E"/>
              </a:buClr>
            </a:pP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Professor William Hynes is Managing Director of </a:t>
            </a:r>
            <a:r>
              <a:rPr lang="en-GB" sz="1200" dirty="0" err="1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Spatialis</a:t>
            </a: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Chartered Urban Planner, Chartered Surveyor and urban-infrastructure economist with over 30 years’ experience leading major infrastructure planning and development projects and advising public and private clients on strategic spatial planning, economic and business-case analysis, demographic analysis and population projection, and transport and infrastructure planning.</a:t>
            </a:r>
          </a:p>
          <a:p>
            <a:pPr>
              <a:spcAft>
                <a:spcPts val="500"/>
              </a:spcAft>
              <a:buClr>
                <a:srgbClr val="B5502E"/>
              </a:buClr>
            </a:pPr>
            <a:endParaRPr lang="en-GB" sz="1200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spcAft>
                <a:spcPts val="500"/>
              </a:spcAft>
              <a:buClr>
                <a:srgbClr val="B5502E"/>
              </a:buClr>
            </a:pP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Since 2011 he has led or partnered on 20 European Commission FP7 and Horizon 2020 research projects securing over €50m in EU funding, and has twice been named ‘Irish Champion of EU Research &amp; Development’ by the President of Ireland and Enterprise Ireland.</a:t>
            </a:r>
          </a:p>
          <a:p>
            <a:pPr>
              <a:spcAft>
                <a:spcPts val="500"/>
              </a:spcAft>
              <a:buClr>
                <a:srgbClr val="B5502E"/>
              </a:buClr>
            </a:pPr>
            <a:endParaRPr lang="en-GB" sz="1200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spcAft>
                <a:spcPts val="500"/>
              </a:spcAft>
              <a:buClr>
                <a:srgbClr val="B5502E"/>
              </a:buClr>
            </a:pPr>
            <a:r>
              <a:rPr lang="en-GB" sz="1200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 is a visiting professor at University College Dublin.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985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GB" sz="2000" b="1" dirty="0">
                <a:solidFill>
                  <a:srgbClr val="173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James Sweeney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98576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B55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Director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248400" y="32004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200" i="1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James Sweeney is a Director of </a:t>
            </a:r>
            <a:r>
              <a:rPr lang="en-GB" sz="1200" i="1" dirty="0" err="1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Spatialis</a:t>
            </a:r>
            <a:r>
              <a:rPr lang="en-GB" sz="1200" i="1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a specialist in spatial analytics and data-led planning evidence, with over 15 years’ experience turning complex spatial and socio-economic data into clear evidence for planning and investment decisions.</a:t>
            </a:r>
          </a:p>
          <a:p>
            <a:endParaRPr lang="en-GB" sz="1200" i="1" dirty="0">
              <a:solidFill>
                <a:srgbClr val="5F787C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r>
              <a:rPr lang="en-GB" sz="1200" i="1" dirty="0">
                <a:solidFill>
                  <a:srgbClr val="5F78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 pairs a planning background (Master of Regional and Urban Planning) with deep GIS and data-science expertise (MSc Geographical Information Science), delivering housing, retail, social-infrastructure and demographic studies for public bodies, private developers and EU research programmes.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AB014-1AD4-E009-49AC-C4C81C7ED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162524"/>
            <a:ext cx="14630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16E9B-6706-B99B-F3E8-305DB9B0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Background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Our approach is based on the following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548640" y="1828800"/>
            <a:ext cx="3514344" cy="32918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Independent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An independent analysis of the Irish housing sector.</a:t>
            </a:r>
          </a:p>
        </p:txBody>
      </p:sp>
      <p:sp>
        <p:nvSpPr>
          <p:cNvPr id="13" name="Card"/>
          <p:cNvSpPr txBox="1"/>
          <p:nvPr/>
        </p:nvSpPr>
        <p:spPr>
          <a:xfrm>
            <a:off x="4337304" y="1828800"/>
            <a:ext cx="3514344" cy="32918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Evidence-based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To provide a comprehensive, evidence-based assessment of the state of the housing system in Ireland, including recent performance, future delivery prospects, key constraints, and opportunities for reform.</a:t>
            </a:r>
          </a:p>
        </p:txBody>
      </p:sp>
      <p:sp>
        <p:nvSpPr>
          <p:cNvPr id="14" name="Card"/>
          <p:cNvSpPr txBox="1"/>
          <p:nvPr/>
        </p:nvSpPr>
        <p:spPr>
          <a:xfrm>
            <a:off x="8125968" y="1828800"/>
            <a:ext cx="3514344" cy="329184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Suitable for publication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Be suitable for publication and should contribute constructively to the national housing policy debate.</a:t>
            </a:r>
          </a:p>
        </p:txBody>
      </p:sp>
    </p:spTree>
    <p:extLst>
      <p:ext uri="{BB962C8B-B14F-4D97-AF65-F5344CB8AC3E}">
        <p14:creationId xmlns:p14="http://schemas.microsoft.com/office/powerpoint/2010/main" val="96973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9295-4C94-3D04-B82A-1752D5B7B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Objectives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Our approach is based on the following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548640" y="1828800"/>
            <a:ext cx="3514344" cy="1965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Assess the current state of the Irish housing sector</a:t>
            </a:r>
          </a:p>
        </p:txBody>
      </p:sp>
      <p:sp>
        <p:nvSpPr>
          <p:cNvPr id="13" name="Card"/>
          <p:cNvSpPr txBox="1"/>
          <p:nvPr/>
        </p:nvSpPr>
        <p:spPr>
          <a:xfrm>
            <a:off x="4337304" y="1828800"/>
            <a:ext cx="3514344" cy="1965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Review the performance of housing delivery in recent years</a:t>
            </a:r>
          </a:p>
        </p:txBody>
      </p:sp>
      <p:sp>
        <p:nvSpPr>
          <p:cNvPr id="14" name="Card"/>
          <p:cNvSpPr txBox="1"/>
          <p:nvPr/>
        </p:nvSpPr>
        <p:spPr>
          <a:xfrm>
            <a:off x="8125968" y="1828800"/>
            <a:ext cx="3514344" cy="1965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Illustrate the effectiveness of current Government Housing Schemes and assess the additionality of housing supply they support</a:t>
            </a:r>
          </a:p>
        </p:txBody>
      </p:sp>
      <p:sp>
        <p:nvSpPr>
          <p:cNvPr id="15" name="Card"/>
          <p:cNvSpPr txBox="1"/>
          <p:nvPr/>
        </p:nvSpPr>
        <p:spPr>
          <a:xfrm>
            <a:off x="548640" y="4069080"/>
            <a:ext cx="3514344" cy="1965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Assess the likelihood of national housing delivery targets being achieved</a:t>
            </a:r>
          </a:p>
        </p:txBody>
      </p:sp>
      <p:sp>
        <p:nvSpPr>
          <p:cNvPr id="16" name="Card"/>
          <p:cNvSpPr txBox="1"/>
          <p:nvPr/>
        </p:nvSpPr>
        <p:spPr>
          <a:xfrm>
            <a:off x="4337304" y="4069080"/>
            <a:ext cx="3514344" cy="1965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05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Develop evidence-based projections for housing delivery to 2030 under a range of scenarios</a:t>
            </a:r>
          </a:p>
        </p:txBody>
      </p:sp>
      <p:sp>
        <p:nvSpPr>
          <p:cNvPr id="17" name="Card"/>
          <p:cNvSpPr txBox="1"/>
          <p:nvPr/>
        </p:nvSpPr>
        <p:spPr>
          <a:xfrm>
            <a:off x="8125968" y="4069080"/>
            <a:ext cx="3514344" cy="19659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06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Identify policy measures that may be required to support increased housing delivery</a:t>
            </a:r>
          </a:p>
        </p:txBody>
      </p:sp>
    </p:spTree>
    <p:extLst>
      <p:ext uri="{BB962C8B-B14F-4D97-AF65-F5344CB8AC3E}">
        <p14:creationId xmlns:p14="http://schemas.microsoft.com/office/powerpoint/2010/main" val="319252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Structure of report: stages 1–3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Based on Background and Objectives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548640" y="1828800"/>
            <a:ext cx="3514344" cy="365760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1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Scene Setting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Establishing the context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5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Setting out the context of the study</a:t>
            </a:r>
          </a:p>
        </p:txBody>
      </p:sp>
      <p:sp>
        <p:nvSpPr>
          <p:cNvPr id="13" name="Card"/>
          <p:cNvSpPr txBox="1"/>
          <p:nvPr/>
        </p:nvSpPr>
        <p:spPr>
          <a:xfrm>
            <a:off x="4337304" y="1828800"/>
            <a:ext cx="3514344" cy="365760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2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Policy, strategy and literature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Policy, strategy and current literature assessment/landscape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Assessing the impact of significant housing policies, strategies, interventions and literature thinking, and identify measures that have positively influenced housing delivery, together with measures that may be constraining delivery.</a:t>
            </a:r>
          </a:p>
        </p:txBody>
      </p:sp>
      <p:sp>
        <p:nvSpPr>
          <p:cNvPr id="14" name="Card"/>
          <p:cNvSpPr txBox="1"/>
          <p:nvPr/>
        </p:nvSpPr>
        <p:spPr>
          <a:xfrm>
            <a:off x="8125968" y="1828800"/>
            <a:ext cx="3514344" cy="365760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3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Housing Demand Assessment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Specifically assessing: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Population growth and demographic trends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Household formation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Migration and labour market considerations</a:t>
            </a:r>
          </a:p>
          <a:p>
            <a:pPr marL="228600" indent="-228600" algn="l">
              <a:spcAft>
                <a:spcPts val="500"/>
              </a:spcAft>
              <a:buClr>
                <a:srgbClr val="B5502E"/>
              </a:buClr>
              <a:buFont typeface="Arial"/>
              <a:buChar char="•"/>
            </a:pPr>
            <a:r>
              <a:rPr lang="en-GB" sz="15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Regional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8FB9-06C8-5C2C-B4DE-53640450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Structure of report: stage 4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Housing supply analysis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548640" y="1828800"/>
            <a:ext cx="3566160" cy="40233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STAGE 4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GB" sz="26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Housing Supply Analysis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Specifically assessing:</a:t>
            </a:r>
          </a:p>
        </p:txBody>
      </p:sp>
      <p:sp>
        <p:nvSpPr>
          <p:cNvPr id="13" name="Item"/>
          <p:cNvSpPr txBox="1"/>
          <p:nvPr/>
        </p:nvSpPr>
        <p:spPr>
          <a:xfrm>
            <a:off x="4389120" y="1828800"/>
            <a:ext cx="7251192" cy="658368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01   </a:t>
            </a:r>
            <a:r>
              <a:rPr lang="en-GB" sz="1600" b="0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Permissions / Commencements / Completions</a:t>
            </a:r>
          </a:p>
        </p:txBody>
      </p:sp>
      <p:sp>
        <p:nvSpPr>
          <p:cNvPr id="14" name="Item"/>
          <p:cNvSpPr txBox="1"/>
          <p:nvPr/>
        </p:nvSpPr>
        <p:spPr>
          <a:xfrm>
            <a:off x="4389120" y="2596896"/>
            <a:ext cx="7251192" cy="658368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02   </a:t>
            </a:r>
            <a:r>
              <a:rPr lang="en-GB" sz="1600" b="0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Social and affordable housing delivery</a:t>
            </a:r>
          </a:p>
        </p:txBody>
      </p:sp>
      <p:sp>
        <p:nvSpPr>
          <p:cNvPr id="15" name="Item"/>
          <p:cNvSpPr txBox="1"/>
          <p:nvPr/>
        </p:nvSpPr>
        <p:spPr>
          <a:xfrm>
            <a:off x="4389120" y="3364992"/>
            <a:ext cx="7251192" cy="658368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03   </a:t>
            </a:r>
            <a:r>
              <a:rPr lang="en-GB" sz="1600" b="0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Apartment delivery</a:t>
            </a:r>
          </a:p>
        </p:txBody>
      </p:sp>
      <p:sp>
        <p:nvSpPr>
          <p:cNvPr id="16" name="Item"/>
          <p:cNvSpPr txBox="1"/>
          <p:nvPr/>
        </p:nvSpPr>
        <p:spPr>
          <a:xfrm>
            <a:off x="4389120" y="4133088"/>
            <a:ext cx="7251192" cy="658368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04   </a:t>
            </a:r>
            <a:r>
              <a:rPr lang="en-GB" sz="1600" b="0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Regional delivery</a:t>
            </a:r>
          </a:p>
        </p:txBody>
      </p:sp>
      <p:sp>
        <p:nvSpPr>
          <p:cNvPr id="17" name="Item"/>
          <p:cNvSpPr txBox="1"/>
          <p:nvPr/>
        </p:nvSpPr>
        <p:spPr>
          <a:xfrm>
            <a:off x="4389120" y="4901184"/>
            <a:ext cx="7251192" cy="91440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05   </a:t>
            </a:r>
            <a:r>
              <a:rPr lang="en-GB" sz="1600" b="0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Delivery targeted for specific sects of society, e.g., housing for older people and first time buyers</a:t>
            </a:r>
          </a:p>
        </p:txBody>
      </p:sp>
    </p:spTree>
    <p:extLst>
      <p:ext uri="{BB962C8B-B14F-4D97-AF65-F5344CB8AC3E}">
        <p14:creationId xmlns:p14="http://schemas.microsoft.com/office/powerpoint/2010/main" val="385487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B8FD-FC1D-05DB-FDE3-440531E7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Stage 5: delivery constraints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Factors impacting housing delivery</a:t>
            </a:r>
          </a:p>
        </p:txBody>
      </p:sp>
      <p:sp>
        <p:nvSpPr>
          <p:cNvPr id="12" name="Intro"/>
          <p:cNvSpPr txBox="1"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Examination of the factors impacting housing delivery, including but not limited to:</a:t>
            </a:r>
          </a:p>
        </p:txBody>
      </p:sp>
      <p:sp>
        <p:nvSpPr>
          <p:cNvPr id="13" name="Factor"/>
          <p:cNvSpPr txBox="1"/>
          <p:nvPr/>
        </p:nvSpPr>
        <p:spPr>
          <a:xfrm>
            <a:off x="548640" y="2468880"/>
            <a:ext cx="2567178" cy="1051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Planning system</a:t>
            </a:r>
          </a:p>
        </p:txBody>
      </p:sp>
      <p:sp>
        <p:nvSpPr>
          <p:cNvPr id="14" name="Factor"/>
          <p:cNvSpPr txBox="1"/>
          <p:nvPr/>
        </p:nvSpPr>
        <p:spPr>
          <a:xfrm>
            <a:off x="3390138" y="2468880"/>
            <a:ext cx="2567178" cy="1051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Infrastructure provision</a:t>
            </a:r>
          </a:p>
        </p:txBody>
      </p:sp>
      <p:sp>
        <p:nvSpPr>
          <p:cNvPr id="15" name="Factor"/>
          <p:cNvSpPr txBox="1"/>
          <p:nvPr/>
        </p:nvSpPr>
        <p:spPr>
          <a:xfrm>
            <a:off x="6231636" y="2468880"/>
            <a:ext cx="2567178" cy="1051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Development finance</a:t>
            </a:r>
          </a:p>
        </p:txBody>
      </p:sp>
      <p:sp>
        <p:nvSpPr>
          <p:cNvPr id="16" name="Factor"/>
          <p:cNvSpPr txBox="1"/>
          <p:nvPr/>
        </p:nvSpPr>
        <p:spPr>
          <a:xfrm>
            <a:off x="9073134" y="2468880"/>
            <a:ext cx="2567178" cy="1051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Construction costs</a:t>
            </a:r>
          </a:p>
        </p:txBody>
      </p:sp>
      <p:sp>
        <p:nvSpPr>
          <p:cNvPr id="17" name="Factor"/>
          <p:cNvSpPr txBox="1"/>
          <p:nvPr/>
        </p:nvSpPr>
        <p:spPr>
          <a:xfrm>
            <a:off x="548640" y="3749040"/>
            <a:ext cx="2567178" cy="1051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Development viability</a:t>
            </a:r>
          </a:p>
        </p:txBody>
      </p:sp>
      <p:sp>
        <p:nvSpPr>
          <p:cNvPr id="18" name="Factor"/>
          <p:cNvSpPr txBox="1"/>
          <p:nvPr/>
        </p:nvSpPr>
        <p:spPr>
          <a:xfrm>
            <a:off x="3390138" y="3749040"/>
            <a:ext cx="2567178" cy="1051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Labour availability and skills</a:t>
            </a:r>
          </a:p>
        </p:txBody>
      </p:sp>
      <p:sp>
        <p:nvSpPr>
          <p:cNvPr id="19" name="Factor"/>
          <p:cNvSpPr txBox="1"/>
          <p:nvPr/>
        </p:nvSpPr>
        <p:spPr>
          <a:xfrm>
            <a:off x="6231636" y="3749040"/>
            <a:ext cx="2567178" cy="105156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Land availability</a:t>
            </a:r>
          </a:p>
        </p:txBody>
      </p:sp>
      <p:sp>
        <p:nvSpPr>
          <p:cNvPr id="20" name="Factor"/>
          <p:cNvSpPr txBox="1"/>
          <p:nvPr/>
        </p:nvSpPr>
        <p:spPr>
          <a:xfrm>
            <a:off x="548640" y="5029200"/>
            <a:ext cx="11091672" cy="118872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8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Regulatory and policy requirements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Such as Part V, Compact Growth, Utility Connection processes or any other relevant areas</a:t>
            </a:r>
          </a:p>
        </p:txBody>
      </p:sp>
    </p:spTree>
    <p:extLst>
      <p:ext uri="{BB962C8B-B14F-4D97-AF65-F5344CB8AC3E}">
        <p14:creationId xmlns:p14="http://schemas.microsoft.com/office/powerpoint/2010/main" val="171410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C8E2-1B9C-F9F4-4E30-A8907933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Stage 5: two strands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This stage involves two strands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548640" y="1828800"/>
            <a:ext cx="5408676" cy="23317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STRAND 1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6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Examining the constraints at a strategic (national / regional / city / county) level</a:t>
            </a:r>
          </a:p>
        </p:txBody>
      </p:sp>
      <p:sp>
        <p:nvSpPr>
          <p:cNvPr id="13" name="Card"/>
          <p:cNvSpPr txBox="1"/>
          <p:nvPr/>
        </p:nvSpPr>
        <p:spPr>
          <a:xfrm>
            <a:off x="6231636" y="1828800"/>
            <a:ext cx="5408676" cy="23317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STRAND 2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Case study spatial analysis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A detailed “case study” spatial location analysis for more granular analysis of the constraints.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Potentially three locations, selected in consultation/agreement with the IHBA: a core city location, a city-edge location, and a major urban settlement location.</a:t>
            </a:r>
          </a:p>
        </p:txBody>
      </p:sp>
      <p:sp>
        <p:nvSpPr>
          <p:cNvPr id="14" name="Label"/>
          <p:cNvSpPr txBox="1"/>
          <p:nvPr/>
        </p:nvSpPr>
        <p:spPr>
          <a:xfrm>
            <a:off x="548640" y="438912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THE EXAMINATION FACTORS GROUP INTO THREE CONSTRAINT THEMES</a:t>
            </a:r>
          </a:p>
        </p:txBody>
      </p:sp>
      <p:sp>
        <p:nvSpPr>
          <p:cNvPr id="15" name="Theme"/>
          <p:cNvSpPr txBox="1"/>
          <p:nvPr/>
        </p:nvSpPr>
        <p:spPr>
          <a:xfrm>
            <a:off x="548640" y="4754880"/>
            <a:ext cx="3514344" cy="132588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8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Administrative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Planning, Regulatory, Policy</a:t>
            </a:r>
          </a:p>
        </p:txBody>
      </p:sp>
      <p:sp>
        <p:nvSpPr>
          <p:cNvPr id="16" name="Theme"/>
          <p:cNvSpPr txBox="1"/>
          <p:nvPr/>
        </p:nvSpPr>
        <p:spPr>
          <a:xfrm>
            <a:off x="4337304" y="4754880"/>
            <a:ext cx="3514344" cy="132588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8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Physical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Infrastructure Provision, Labour Availability, Land Availability</a:t>
            </a:r>
          </a:p>
        </p:txBody>
      </p:sp>
      <p:sp>
        <p:nvSpPr>
          <p:cNvPr id="17" name="Theme"/>
          <p:cNvSpPr txBox="1"/>
          <p:nvPr/>
        </p:nvSpPr>
        <p:spPr>
          <a:xfrm>
            <a:off x="8125968" y="4754880"/>
            <a:ext cx="3514344" cy="132588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8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Financial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Development Finance, Construction Costs, Development Viability</a:t>
            </a:r>
          </a:p>
        </p:txBody>
      </p:sp>
    </p:spTree>
    <p:extLst>
      <p:ext uri="{BB962C8B-B14F-4D97-AF65-F5344CB8AC3E}">
        <p14:creationId xmlns:p14="http://schemas.microsoft.com/office/powerpoint/2010/main" val="248197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BA93-0F42-AA39-AE5D-43838B6E6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Stakeholders and future outlook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Stage 5 (continued) and Stage 6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548640" y="1828800"/>
            <a:ext cx="4937760" cy="411480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STAGE 5 (CONTINUED)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Stakeholder engagement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This stage will involve stakeholder engagement, particularly with key stakeholders with essential knowledge and insights into the three selected locations.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Collectively, this approach will allow for the undertaking of “comparative analysis” and “additionality” – assessing housing delivery under what tenure, composition, funding approaches.</a:t>
            </a:r>
          </a:p>
        </p:txBody>
      </p:sp>
      <p:sp>
        <p:nvSpPr>
          <p:cNvPr id="13" name="Card"/>
          <p:cNvSpPr txBox="1"/>
          <p:nvPr/>
        </p:nvSpPr>
        <p:spPr>
          <a:xfrm>
            <a:off x="5760720" y="1828800"/>
            <a:ext cx="5879592" cy="411480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A9BCC0"/>
                </a:solidFill>
                <a:latin typeface="IBM Plex Sans"/>
                <a:ea typeface="IBM Plex Sans"/>
                <a:cs typeface="IBM Plex Sans"/>
              </a:rPr>
              <a:t>STAGE 6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Future Outlook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A forward-looking assessment of the housing sector to 2030, which will include:</a:t>
            </a:r>
          </a:p>
          <a:p>
            <a:pPr marL="228600" indent="-228600" algn="l">
              <a:spcAft>
                <a:spcPts val="500"/>
              </a:spcAft>
              <a:buClr>
                <a:srgbClr val="A9BCC0"/>
              </a:buClr>
              <a:buFont typeface="Arial"/>
              <a:buChar char="•"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Quantitative projections for housing delivery</a:t>
            </a:r>
          </a:p>
          <a:p>
            <a:pPr marL="228600" indent="-228600" algn="l">
              <a:spcAft>
                <a:spcPts val="500"/>
              </a:spcAft>
              <a:buClr>
                <a:srgbClr val="A9BCC0"/>
              </a:buClr>
              <a:buFont typeface="Arial"/>
              <a:buChar char="•"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Analysis of likely future trends</a:t>
            </a:r>
          </a:p>
          <a:p>
            <a:pPr marL="228600" indent="-228600" algn="l">
              <a:spcAft>
                <a:spcPts val="500"/>
              </a:spcAft>
              <a:buClr>
                <a:srgbClr val="A9BCC0"/>
              </a:buClr>
              <a:buFont typeface="Arial"/>
              <a:buChar char="•"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Assessments of risks to delivery</a:t>
            </a:r>
          </a:p>
          <a:p>
            <a:pPr marL="228600" indent="-228600" algn="l">
              <a:spcAft>
                <a:spcPts val="500"/>
              </a:spcAft>
              <a:buClr>
                <a:srgbClr val="A9BCC0"/>
              </a:buClr>
              <a:buFont typeface="Arial"/>
              <a:buChar char="•"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Scenario analysis where appropriate</a:t>
            </a:r>
          </a:p>
          <a:p>
            <a:pPr marL="228600" indent="-228600" algn="l">
              <a:spcAft>
                <a:spcPts val="500"/>
              </a:spcAft>
              <a:buClr>
                <a:srgbClr val="A9BCC0"/>
              </a:buClr>
              <a:buFont typeface="Arial"/>
              <a:buChar char="•"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Identification of policy interventions that may be required to achieve housing targets</a:t>
            </a:r>
          </a:p>
        </p:txBody>
      </p:sp>
    </p:spTree>
    <p:extLst>
      <p:ext uri="{BB962C8B-B14F-4D97-AF65-F5344CB8AC3E}">
        <p14:creationId xmlns:p14="http://schemas.microsoft.com/office/powerpoint/2010/main" val="182519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9FDA-14C4-BC9A-F793-8463E76A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475488" cy="47548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170432" y="4114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30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Project deliverables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5F787C"/>
                </a:solidFill>
                <a:latin typeface="IBM Plex Sans"/>
                <a:ea typeface="IBM Plex Sans"/>
                <a:cs typeface="IBM Plex Sans"/>
              </a:rPr>
              <a:t>What we will produce, and when</a:t>
            </a:r>
          </a:p>
        </p:txBody>
      </p:sp>
      <p:sp>
        <p:nvSpPr>
          <p:cNvPr id="12" name="Card"/>
          <p:cNvSpPr txBox="1"/>
          <p:nvPr/>
        </p:nvSpPr>
        <p:spPr>
          <a:xfrm>
            <a:off x="548640" y="1828800"/>
            <a:ext cx="2567178" cy="21031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Main Report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Report suitable for public release</a:t>
            </a:r>
          </a:p>
        </p:txBody>
      </p:sp>
      <p:sp>
        <p:nvSpPr>
          <p:cNvPr id="13" name="Card"/>
          <p:cNvSpPr txBox="1"/>
          <p:nvPr/>
        </p:nvSpPr>
        <p:spPr>
          <a:xfrm>
            <a:off x="3390138" y="1828800"/>
            <a:ext cx="2567178" cy="21031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Executive Summary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Concise summary of findings and recommendations</a:t>
            </a:r>
          </a:p>
        </p:txBody>
      </p:sp>
      <p:sp>
        <p:nvSpPr>
          <p:cNvPr id="14" name="Card"/>
          <p:cNvSpPr txBox="1"/>
          <p:nvPr/>
        </p:nvSpPr>
        <p:spPr>
          <a:xfrm>
            <a:off x="6231636" y="1828800"/>
            <a:ext cx="2567178" cy="21031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Presentation Material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Slides summarising key findings for use at the Annual Housing Conference</a:t>
            </a:r>
          </a:p>
        </p:txBody>
      </p:sp>
      <p:sp>
        <p:nvSpPr>
          <p:cNvPr id="15" name="Card"/>
          <p:cNvSpPr txBox="1"/>
          <p:nvPr/>
        </p:nvSpPr>
        <p:spPr>
          <a:xfrm>
            <a:off x="9073134" y="1828800"/>
            <a:ext cx="2567178" cy="2103120"/>
          </a:xfrm>
          <a:prstGeom prst="rect">
            <a:avLst/>
          </a:prstGeom>
          <a:solidFill>
            <a:srgbClr val="F3F4F1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17383E"/>
                </a:solidFill>
                <a:latin typeface="IBM Plex Sans"/>
                <a:ea typeface="IBM Plex Sans"/>
                <a:cs typeface="IBM Plex Sans"/>
              </a:rPr>
              <a:t>Conference Presentation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400" b="0" i="0" dirty="0">
                <a:solidFill>
                  <a:srgbClr val="3A4C50"/>
                </a:solidFill>
                <a:latin typeface="IBM Plex Sans"/>
                <a:ea typeface="IBM Plex Sans"/>
                <a:cs typeface="IBM Plex Sans"/>
              </a:rPr>
              <a:t>Presentation at the Annual Housing Conference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8640" y="420624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B5502E"/>
                </a:solidFill>
                <a:latin typeface="IBM Plex Sans"/>
                <a:ea typeface="IBM Plex Sans"/>
                <a:cs typeface="IBM Plex Sans"/>
              </a:rPr>
              <a:t>TIMELINE</a:t>
            </a:r>
          </a:p>
        </p:txBody>
      </p:sp>
      <p:sp>
        <p:nvSpPr>
          <p:cNvPr id="17" name="Milestone"/>
          <p:cNvSpPr txBox="1"/>
          <p:nvPr/>
        </p:nvSpPr>
        <p:spPr>
          <a:xfrm>
            <a:off x="548640" y="4572000"/>
            <a:ext cx="3514344" cy="12801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20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Mid-October 2026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Commencement</a:t>
            </a:r>
          </a:p>
        </p:txBody>
      </p:sp>
      <p:sp>
        <p:nvSpPr>
          <p:cNvPr id="18" name="Milestone"/>
          <p:cNvSpPr txBox="1"/>
          <p:nvPr/>
        </p:nvSpPr>
        <p:spPr>
          <a:xfrm>
            <a:off x="4337304" y="4572000"/>
            <a:ext cx="3514344" cy="12801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20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End-February 2027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Draft report completed</a:t>
            </a:r>
          </a:p>
        </p:txBody>
      </p:sp>
      <p:sp>
        <p:nvSpPr>
          <p:cNvPr id="19" name="Milestone"/>
          <p:cNvSpPr txBox="1"/>
          <p:nvPr/>
        </p:nvSpPr>
        <p:spPr>
          <a:xfrm>
            <a:off x="8125968" y="4572000"/>
            <a:ext cx="3514344" cy="1280160"/>
          </a:xfrm>
          <a:prstGeom prst="rect">
            <a:avLst/>
          </a:prstGeom>
          <a:solidFill>
            <a:srgbClr val="17383E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2000" b="1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Mid-March 2027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GB" sz="1500" b="0" i="0" dirty="0">
                <a:solidFill>
                  <a:srgbClr val="D5E0E2"/>
                </a:solidFill>
                <a:latin typeface="IBM Plex Sans"/>
                <a:ea typeface="IBM Plex Sans"/>
                <a:cs typeface="IBM Plex Sans"/>
              </a:rPr>
              <a:t>Report finalised</a:t>
            </a:r>
          </a:p>
        </p:txBody>
      </p:sp>
    </p:spTree>
    <p:extLst>
      <p:ext uri="{BB962C8B-B14F-4D97-AF65-F5344CB8AC3E}">
        <p14:creationId xmlns:p14="http://schemas.microsoft.com/office/powerpoint/2010/main" val="114680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8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023360" cy="22311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749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68680" y="4526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William Hynes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55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Director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98080" y="4526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A9BC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info@spatialis.ie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A9BC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Baggot St. Lwr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A9BC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spatialis.ie   ·   Dublin, Ireland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atialis">
      <a:dk1>
        <a:sysClr val="windowText" lastClr="000000"/>
      </a:dk1>
      <a:lt1>
        <a:sysClr val="window" lastClr="FFFFFF"/>
      </a:lt1>
      <a:dk2>
        <a:srgbClr val="17383E"/>
      </a:dk2>
      <a:lt2>
        <a:srgbClr val="F3F4F1"/>
      </a:lt2>
      <a:accent1>
        <a:srgbClr val="17383E"/>
      </a:accent1>
      <a:accent2>
        <a:srgbClr val="B5502E"/>
      </a:accent2>
      <a:accent3>
        <a:srgbClr val="5F787C"/>
      </a:accent3>
      <a:accent4>
        <a:srgbClr val="3A4C50"/>
      </a:accent4>
      <a:accent5>
        <a:srgbClr val="2E545B"/>
      </a:accent5>
      <a:accent6>
        <a:srgbClr val="A9BCC0"/>
      </a:accent6>
      <a:hlink>
        <a:srgbClr val="B5502E"/>
      </a:hlink>
      <a:folHlink>
        <a:srgbClr val="5F787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EA111F712AB47ADBF94FF04DA0182" ma:contentTypeVersion="13" ma:contentTypeDescription="Create a new document." ma:contentTypeScope="" ma:versionID="3355d0ab4c74b2a2a497193a1e1d1b8a">
  <xsd:schema xmlns:xsd="http://www.w3.org/2001/XMLSchema" xmlns:xs="http://www.w3.org/2001/XMLSchema" xmlns:p="http://schemas.microsoft.com/office/2006/metadata/properties" xmlns:ns2="58634793-8a4a-4013-8e68-bd538c515a7e" xmlns:ns3="4834dd2e-4990-42f9-a6a3-c9d7356f7354" targetNamespace="http://schemas.microsoft.com/office/2006/metadata/properties" ma:root="true" ma:fieldsID="31625f9a093915574971d39cc5696e67" ns2:_="" ns3:_="">
    <xsd:import namespace="58634793-8a4a-4013-8e68-bd538c515a7e"/>
    <xsd:import namespace="4834dd2e-4990-42f9-a6a3-c9d7356f73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634793-8a4a-4013-8e68-bd538c515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e23e627-0612-4a37-9e76-521f4842e5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4dd2e-4990-42f9-a6a3-c9d7356f735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2c0f3b3-91d5-4bc8-836f-f908981ce77a}" ma:internalName="TaxCatchAll" ma:showField="CatchAllData" ma:web="4834dd2e-4990-42f9-a6a3-c9d7356f73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34dd2e-4990-42f9-a6a3-c9d7356f7354" xsi:nil="true"/>
    <lcf76f155ced4ddcb4097134ff3c332f xmlns="58634793-8a4a-4013-8e68-bd538c515a7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664571-9DAF-4F1B-8685-A4813A43CA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634793-8a4a-4013-8e68-bd538c515a7e"/>
    <ds:schemaRef ds:uri="4834dd2e-4990-42f9-a6a3-c9d7356f73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905932-F91C-4428-8B36-41C8B7C11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2528DC-9D0C-4D9B-87E0-45D09577D37C}">
  <ds:schemaRefs>
    <ds:schemaRef ds:uri="http://schemas.microsoft.com/office/2006/metadata/properties"/>
    <ds:schemaRef ds:uri="http://schemas.microsoft.com/office/infopath/2007/PartnerControls"/>
    <ds:schemaRef ds:uri="4834dd2e-4990-42f9-a6a3-c9d7356f7354"/>
    <ds:schemaRef ds:uri="385adff5-cd9e-4f2b-ae0e-c455f727d2ef"/>
    <ds:schemaRef ds:uri="58634793-8a4a-4013-8e68-bd538c515a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986</Words>
  <Application>Microsoft Office PowerPoint</Application>
  <PresentationFormat>Widescreen</PresentationFormat>
  <Paragraphs>121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IBM Plex Mono</vt:lpstr>
      <vt:lpstr>IBM Plex Sans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William Hynes</cp:lastModifiedBy>
  <cp:revision>37</cp:revision>
  <dcterms:created xsi:type="dcterms:W3CDTF">2026-07-24T13:21:22Z</dcterms:created>
  <dcterms:modified xsi:type="dcterms:W3CDTF">2026-10-20T14:53:53Z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0x010100EB4EA111F712AB47ADBF94FF04DA0182</vt:lpwstr>
  </property>
  <property fmtid="{D5CDD505-2E9C-101B-9397-08002B2CF9AE}" pid="3" name="MediaServiceImageTags">
    <vt:lpwstr/>
  </property>
</Properties>
</file>