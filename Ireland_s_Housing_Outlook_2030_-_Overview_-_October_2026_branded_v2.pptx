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66" r:id="rId5"/>
    <p:sldId id="274" r:id="rId6"/>
    <p:sldId id="275" r:id="rId7"/>
    <p:sldId id="276" r:id="rId8"/>
    <p:sldId id="257" r:id="rId9"/>
    <p:sldId id="277" r:id="rId10"/>
    <p:sldId id="278" r:id="rId11"/>
    <p:sldId id="279" r:id="rId12"/>
    <p:sldId id="280" r:id="rId13"/>
    <p:sldId id="282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D356F7-5299-1AED-D6B9-A8659F28B96A}" v="64" dt="2026-10-20T14:10:25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ynes" userId="S::william.hynes@spatialis.ie::bf2a35c1-872e-4988-b8fc-4ba4f830ddc1" providerId="AD" clId="Web-{CFD356F7-5299-1AED-D6B9-A8659F28B96A}"/>
    <pc:docChg chg="delSld modSld sldOrd">
      <pc:chgData name="William Hynes" userId="S::william.hynes@spatialis.ie::bf2a35c1-872e-4988-b8fc-4ba4f830ddc1" providerId="AD" clId="Web-{CFD356F7-5299-1AED-D6B9-A8659F28B96A}" dt="2026-10-20T14:10:25.929" v="73"/>
      <pc:docMkLst>
        <pc:docMk/>
      </pc:docMkLst>
      <pc:sldChg chg="del">
        <pc:chgData name="William Hynes" userId="S::william.hynes@spatialis.ie::bf2a35c1-872e-4988-b8fc-4ba4f830ddc1" providerId="AD" clId="Web-{CFD356F7-5299-1AED-D6B9-A8659F28B96A}" dt="2026-10-20T14:04:47.651" v="26"/>
        <pc:sldMkLst>
          <pc:docMk/>
          <pc:sldMk cId="0" sldId="256"/>
        </pc:sldMkLst>
      </pc:sldChg>
      <pc:sldChg chg="delSp modSp">
        <pc:chgData name="William Hynes" userId="S::william.hynes@spatialis.ie::bf2a35c1-872e-4988-b8fc-4ba4f830ddc1" providerId="AD" clId="Web-{CFD356F7-5299-1AED-D6B9-A8659F28B96A}" dt="2026-10-20T14:10:25.929" v="73"/>
        <pc:sldMkLst>
          <pc:docMk/>
          <pc:sldMk cId="0" sldId="257"/>
        </pc:sldMkLst>
        <pc:spChg chg="mod">
          <ac:chgData name="William Hynes" userId="S::william.hynes@spatialis.ie::bf2a35c1-872e-4988-b8fc-4ba4f830ddc1" providerId="AD" clId="Web-{CFD356F7-5299-1AED-D6B9-A8659F28B96A}" dt="2026-10-20T14:08:23.049" v="52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William Hynes" userId="S::william.hynes@spatialis.ie::bf2a35c1-872e-4988-b8fc-4ba4f830ddc1" providerId="AD" clId="Web-{CFD356F7-5299-1AED-D6B9-A8659F28B96A}" dt="2026-10-20T14:10:25.929" v="73"/>
          <ac:spMkLst>
            <pc:docMk/>
            <pc:sldMk cId="0" sldId="257"/>
            <ac:spMk id="4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63"/>
          <ac:spMkLst>
            <pc:docMk/>
            <pc:sldMk cId="0" sldId="257"/>
            <ac:spMk id="6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62"/>
          <ac:spMkLst>
            <pc:docMk/>
            <pc:sldMk cId="0" sldId="257"/>
            <ac:spMk id="7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60"/>
          <ac:spMkLst>
            <pc:docMk/>
            <pc:sldMk cId="0" sldId="257"/>
            <ac:spMk id="9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59"/>
          <ac:spMkLst>
            <pc:docMk/>
            <pc:sldMk cId="0" sldId="257"/>
            <ac:spMk id="10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57"/>
          <ac:spMkLst>
            <pc:docMk/>
            <pc:sldMk cId="0" sldId="257"/>
            <ac:spMk id="12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56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William Hynes" userId="S::william.hynes@spatialis.ie::bf2a35c1-872e-4988-b8fc-4ba4f830ddc1" providerId="AD" clId="Web-{CFD356F7-5299-1AED-D6B9-A8659F28B96A}" dt="2026-10-20T14:09:26.692" v="65"/>
          <ac:spMkLst>
            <pc:docMk/>
            <pc:sldMk cId="0" sldId="257"/>
            <ac:spMk id="14" creationId="{54030D0A-F0E3-D9A6-853E-68C8FA0CF310}"/>
          </ac:spMkLst>
        </pc:spChg>
        <pc:picChg chg="del">
          <ac:chgData name="William Hynes" userId="S::william.hynes@spatialis.ie::bf2a35c1-872e-4988-b8fc-4ba4f830ddc1" providerId="AD" clId="Web-{CFD356F7-5299-1AED-D6B9-A8659F28B96A}" dt="2026-10-20T14:09:26.692" v="64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William Hynes" userId="S::william.hynes@spatialis.ie::bf2a35c1-872e-4988-b8fc-4ba4f830ddc1" providerId="AD" clId="Web-{CFD356F7-5299-1AED-D6B9-A8659F28B96A}" dt="2026-10-20T14:09:26.692" v="61"/>
          <ac:picMkLst>
            <pc:docMk/>
            <pc:sldMk cId="0" sldId="257"/>
            <ac:picMk id="8" creationId="{00000000-0000-0000-0000-000000000000}"/>
          </ac:picMkLst>
        </pc:picChg>
        <pc:picChg chg="del">
          <ac:chgData name="William Hynes" userId="S::william.hynes@spatialis.ie::bf2a35c1-872e-4988-b8fc-4ba4f830ddc1" providerId="AD" clId="Web-{CFD356F7-5299-1AED-D6B9-A8659F28B96A}" dt="2026-10-20T14:09:26.692" v="58"/>
          <ac:picMkLst>
            <pc:docMk/>
            <pc:sldMk cId="0" sldId="257"/>
            <ac:picMk id="11" creationId="{00000000-0000-0000-0000-000000000000}"/>
          </ac:picMkLst>
        </pc:picChg>
      </pc:sldChg>
      <pc:sldChg chg="del">
        <pc:chgData name="William Hynes" userId="S::william.hynes@spatialis.ie::bf2a35c1-872e-4988-b8fc-4ba4f830ddc1" providerId="AD" clId="Web-{CFD356F7-5299-1AED-D6B9-A8659F28B96A}" dt="2026-10-20T14:05:25.293" v="28"/>
        <pc:sldMkLst>
          <pc:docMk/>
          <pc:sldMk cId="0" sldId="262"/>
        </pc:sldMkLst>
      </pc:sldChg>
      <pc:sldChg chg="del">
        <pc:chgData name="William Hynes" userId="S::william.hynes@spatialis.ie::bf2a35c1-872e-4988-b8fc-4ba4f830ddc1" providerId="AD" clId="Web-{CFD356F7-5299-1AED-D6B9-A8659F28B96A}" dt="2026-10-20T14:05:22.218" v="27"/>
        <pc:sldMkLst>
          <pc:docMk/>
          <pc:sldMk cId="0" sldId="263"/>
        </pc:sldMkLst>
      </pc:sldChg>
      <pc:sldChg chg="modSp">
        <pc:chgData name="William Hynes" userId="S::william.hynes@spatialis.ie::bf2a35c1-872e-4988-b8fc-4ba4f830ddc1" providerId="AD" clId="Web-{CFD356F7-5299-1AED-D6B9-A8659F28B96A}" dt="2026-10-20T14:07:28.235" v="32" actId="1076"/>
        <pc:sldMkLst>
          <pc:docMk/>
          <pc:sldMk cId="0" sldId="266"/>
        </pc:sldMkLst>
        <pc:spChg chg="mod">
          <ac:chgData name="William Hynes" userId="S::william.hynes@spatialis.ie::bf2a35c1-872e-4988-b8fc-4ba4f830ddc1" providerId="AD" clId="Web-{CFD356F7-5299-1AED-D6B9-A8659F28B96A}" dt="2026-10-20T14:07:28.235" v="32" actId="1076"/>
          <ac:spMkLst>
            <pc:docMk/>
            <pc:sldMk cId="0" sldId="266"/>
            <ac:spMk id="42" creationId="{00000000-0000-0000-0000-000000000000}"/>
          </ac:spMkLst>
        </pc:spChg>
        <pc:spChg chg="mod">
          <ac:chgData name="William Hynes" userId="S::william.hynes@spatialis.ie::bf2a35c1-872e-4988-b8fc-4ba4f830ddc1" providerId="AD" clId="Web-{CFD356F7-5299-1AED-D6B9-A8659F28B96A}" dt="2026-10-20T14:04:16.604" v="24" actId="20577"/>
          <ac:spMkLst>
            <pc:docMk/>
            <pc:sldMk cId="0" sldId="266"/>
            <ac:spMk id="43" creationId="{00000000-0000-0000-0000-000000000000}"/>
          </ac:spMkLst>
        </pc:spChg>
      </pc:sldChg>
      <pc:sldChg chg="ord">
        <pc:chgData name="William Hynes" userId="S::william.hynes@spatialis.ie::bf2a35c1-872e-4988-b8fc-4ba4f830ddc1" providerId="AD" clId="Web-{CFD356F7-5299-1AED-D6B9-A8659F28B96A}" dt="2026-10-20T14:04:38.182" v="25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2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A. Petrol field, reverse lockup, petrol dissolving down into a paper base. The most straightforward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B241-B55F-A24C-02C6-F82A50E3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61FDE-BE08-40A3-460E-8BF6842F6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0A3FA-E90C-8CE7-4C05-6CAC11A55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84BE2-FB2F-F260-1983-977374944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2B46-D706-3F89-9B7D-53B88B82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15B67-175D-B7FA-7593-E5095218E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33CED-A53E-0604-99EF-C84D8DEF2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DBDCD-0DD0-A97C-B58E-6473FE15E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35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CCE33-2A9C-1753-3844-C26153E29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37021-6808-26F8-14AA-9008770F8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DE3FE-83D9-AFF9-9D44-6DCD9BBE8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EE9C9-7452-6736-6EF3-984AA71D4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24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2F73-2CF4-FF99-0FFD-87F629ED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5E6D3-537B-1D7B-CAD1-A3AC004C0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465C1-1B0C-F971-2534-8867AACEE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1307A-96A6-4F69-1E74-7256E633D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61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036D-9F67-AB10-9E55-687F7C3E7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26656-57DF-F8BB-7EDB-47C3343E4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EF858-4757-80CE-EF87-139DCA9F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D4C2F-0A9B-A12B-65C0-F25238513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04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3169-F539-7FD2-DB50-AB58552A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6AC87-6D97-177D-9937-6D20DCD2E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E100D-217D-054C-D01F-54A6E4B3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AF0C3-9DD9-FB2C-3566-290CA726E4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47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2C89F-8293-2622-229B-769C6A60A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2EB42-B5E3-EF03-4665-058E7627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0DC5E-50D7-F577-FF64-5A85F22D6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F8140-E0A0-9B86-92B5-252185352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75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20" Type="http://schemas.openxmlformats.org/officeDocument/2006/relationships/image" Target="../media/icon_TbBuildingCommunity_w.png"/><Relationship Id="rId21" Type="http://schemas.openxmlformats.org/officeDocument/2006/relationships/image" Target="../media/icon_TbHomeStats_w.png"/><Relationship Id="rId22" Type="http://schemas.openxmlformats.org/officeDocument/2006/relationships/image" Target="../media/icon_TbFileText_w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20" Type="http://schemas.openxmlformats.org/officeDocument/2006/relationships/image" Target="../media/icon_TbHomeSearch_w.png"/><Relationship Id="rId21" Type="http://schemas.openxmlformats.org/officeDocument/2006/relationships/image" Target="../media/icon_TbHomeCheck_w.png"/><Relationship Id="rId22" Type="http://schemas.openxmlformats.org/officeDocument/2006/relationships/image" Target="../media/icon_TbHomeDollar_w.png"/><Relationship Id="rId23" Type="http://schemas.openxmlformats.org/officeDocument/2006/relationships/image" Target="../media/icon_TbTargetArrow_w.png"/><Relationship Id="rId24" Type="http://schemas.openxmlformats.org/officeDocument/2006/relationships/image" Target="../media/icon_TbChartLine_w.png"/><Relationship Id="rId25" Type="http://schemas.openxmlformats.org/officeDocument/2006/relationships/image" Target="../media/icon_TbBuildingBank_w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20" Type="http://schemas.openxmlformats.org/officeDocument/2006/relationships/image" Target="../media/icon_TbBuildingCommunity_w.png"/><Relationship Id="rId21" Type="http://schemas.openxmlformats.org/officeDocument/2006/relationships/image" Target="../media/icon_TbBuildingBank_w.png"/><Relationship Id="rId22" Type="http://schemas.openxmlformats.org/officeDocument/2006/relationships/image" Target="../media/icon_TbUsersGroup_w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20" Type="http://schemas.openxmlformats.org/officeDocument/2006/relationships/image" Target="../media/icon_TbCrane_w.png"/><Relationship Id="rId21" Type="http://schemas.openxmlformats.org/officeDocument/2006/relationships/image" Target="../media/icon_TbFileCheck_w.png"/><Relationship Id="rId22" Type="http://schemas.openxmlformats.org/officeDocument/2006/relationships/image" Target="../media/icon_TbHomeHeart_w.png"/><Relationship Id="rId23" Type="http://schemas.openxmlformats.org/officeDocument/2006/relationships/image" Target="../media/icon_TbBuildingSkyscraper_w.png"/><Relationship Id="rId24" Type="http://schemas.openxmlformats.org/officeDocument/2006/relationships/image" Target="../media/icon_TbMap2_w.png"/><Relationship Id="rId25" Type="http://schemas.openxmlformats.org/officeDocument/2006/relationships/image" Target="../media/icon_TbKey_w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20" Type="http://schemas.openxmlformats.org/officeDocument/2006/relationships/image" Target="../media/icon_TbScale_w.png"/><Relationship Id="rId21" Type="http://schemas.openxmlformats.org/officeDocument/2006/relationships/image" Target="../media/icon_TbBulldozer_w.png"/><Relationship Id="rId22" Type="http://schemas.openxmlformats.org/officeDocument/2006/relationships/image" Target="../media/icon_TbCoins_w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20" Type="http://schemas.openxmlformats.org/officeDocument/2006/relationships/image" Target="../media/icon_TbBuildingSkyscraper_w.png"/><Relationship Id="rId21" Type="http://schemas.openxmlformats.org/officeDocument/2006/relationships/image" Target="../media/icon_TbBuildingCommunity_w.png"/><Relationship Id="rId22" Type="http://schemas.openxmlformats.org/officeDocument/2006/relationships/image" Target="../media/icon_TbBuildingEstate_w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20" Type="http://schemas.openxmlformats.org/officeDocument/2006/relationships/image" Target="../media/icon_TbUsersGroup_w.png"/><Relationship Id="rId21" Type="http://schemas.openxmlformats.org/officeDocument/2006/relationships/image" Target="../media/icon_TbChartBar_w.png"/><Relationship Id="rId22" Type="http://schemas.openxmlformats.org/officeDocument/2006/relationships/image" Target="../media/icon_TbTrendingUp_w.png"/><Relationship Id="rId23" Type="http://schemas.openxmlformats.org/officeDocument/2006/relationships/image" Target="../media/icon_TbAlertTriangle_w.png"/><Relationship Id="rId24" Type="http://schemas.openxmlformats.org/officeDocument/2006/relationships/image" Target="../media/icon_TbRoute_w.png"/><Relationship Id="rId25" Type="http://schemas.openxmlformats.org/officeDocument/2006/relationships/image" Target="../media/icon_TbFlag_w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20" Type="http://schemas.openxmlformats.org/officeDocument/2006/relationships/image" Target="../media/icon_TbFileText_w.png"/><Relationship Id="rId21" Type="http://schemas.openxmlformats.org/officeDocument/2006/relationships/image" Target="../media/icon_TbListDetails_w.png"/><Relationship Id="rId22" Type="http://schemas.openxmlformats.org/officeDocument/2006/relationships/image" Target="../media/icon_TbPresentation_w.png"/><Relationship Id="rId23" Type="http://schemas.openxmlformats.org/officeDocument/2006/relationships/image" Target="../media/icon_TbMicrophone_w.png"/><Relationship Id="rId24" Type="http://schemas.openxmlformats.org/officeDocument/2006/relationships/image" Target="../media/icon_TbPlayerPlay_w.png"/><Relationship Id="rId25" Type="http://schemas.openxmlformats.org/officeDocument/2006/relationships/image" Target="../media/icon_TbPencilCheck_w.png"/><Relationship Id="rId26" Type="http://schemas.openxmlformats.org/officeDocument/2006/relationships/image" Target="../media/icon_TbCircleCheck_w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F5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0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50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5206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82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086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62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38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0966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7542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338377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704137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069897" y="4892040"/>
            <a:ext cx="121798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46304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20549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309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109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669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338377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069897" y="5257800"/>
            <a:ext cx="121798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91840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50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30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4934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1510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77814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972617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91840" y="598932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914400" y="25836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>
                <a:solidFill>
                  <a:srgbClr val="F5F3EF"/>
                </a:solidFill>
                <a:latin typeface="IBM Plex Sans"/>
              </a:rPr>
              <a:t>Ireland’s Housing Outlook to 2030</a:t>
            </a:r>
          </a:p>
          <a:p>
            <a:r>
              <a:rPr lang="en-US" sz="3000" b="1" dirty="0">
                <a:solidFill>
                  <a:srgbClr val="F5F3EF"/>
                </a:solidFill>
                <a:latin typeface="IBM Plex Sans"/>
              </a:rPr>
              <a:t>Overview of Approa</a:t>
            </a:r>
            <a:r>
              <a:rPr lang="en-US" sz="3000" b="1">
                <a:solidFill>
                  <a:srgbClr val="F5F3EF"/>
                </a:solidFill>
                <a:latin typeface="IBM Plex Sans"/>
              </a:rPr>
              <a:t>ch</a:t>
            </a:r>
            <a:endParaRPr lang="en-US" sz="3000" b="1" dirty="0">
              <a:solidFill>
                <a:srgbClr val="F5F3EF"/>
              </a:solidFill>
              <a:latin typeface="IBM Plex San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932688" y="3730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A9BCC0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Prepared for IHBA ·  October 2026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32688" y="4224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270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spatialis.ie</a:t>
            </a:r>
            <a:endParaRPr lang="en-US" sz="1200" dirty="0"/>
          </a:p>
        </p:txBody>
      </p:sp>
      <p:pic>
        <p:nvPicPr>
          <p:cNvPr id="45" name="Image 1" descr="logo_white.png">
            <a:extLst>
              <a:ext uri="{FF2B5EF4-FFF2-40B4-BE49-F238E27FC236}">
                <a16:creationId xmlns:a16="http://schemas.microsoft.com/office/drawing/2014/main" id="{0387B603-7536-9F42-D2EA-C09F3139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1137102"/>
            <a:ext cx="2644726" cy="1468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recto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team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640080" y="1162524"/>
            <a:ext cx="1463040" cy="1828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5F787C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23774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GB" sz="2000" b="1" dirty="0">
                <a:solidFill>
                  <a:srgbClr val="173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Professor William Hynes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37744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B55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Director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0080" y="32004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Clr>
                <a:srgbClr val="B5502E"/>
              </a:buClr>
            </a:pPr>
            <a:r>
              <a:rPr lang="en-GB" sz="1200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Professor William Hynes is Managing Director of </a:t>
            </a:r>
            <a:r>
              <a:rPr lang="en-GB" sz="1200" dirty="0" err="1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Spatialis</a:t>
            </a:r>
            <a:r>
              <a:rPr lang="en-GB" sz="1200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Chartered Urban Planner, Chartered Surveyor and urban-infrastructure economist with over 30 years’ experience leading major infrastructure planning and development projects and advising public and private clients on strategic spatial planning, economic and business-case analysis, demographic analysis and population projection, and transport and infrastructure planning.</a:t>
            </a:r>
          </a:p>
          <a:p>
            <a:pPr>
              <a:spcAft>
                <a:spcPts val="500"/>
              </a:spcAft>
              <a:buClr>
                <a:srgbClr val="B5502E"/>
              </a:buClr>
            </a:pPr>
            <a:endParaRPr lang="en-GB" sz="1200" dirty="0">
              <a:solidFill>
                <a:srgbClr val="5F787C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>
              <a:spcAft>
                <a:spcPts val="500"/>
              </a:spcAft>
              <a:buClr>
                <a:srgbClr val="B5502E"/>
              </a:buClr>
            </a:pPr>
            <a:r>
              <a:rPr lang="en-GB" sz="1200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Since 2011 he has led or partnered on 20 European Commission FP7 and Horizon 2020 research projects securing over €50m in EU funding, and has twice been named ‘Irish Champion of EU Research &amp; Development’ by the President of Ireland and Enterprise Ireland.</a:t>
            </a:r>
          </a:p>
          <a:p>
            <a:pPr>
              <a:spcAft>
                <a:spcPts val="500"/>
              </a:spcAft>
              <a:buClr>
                <a:srgbClr val="B5502E"/>
              </a:buClr>
            </a:pPr>
            <a:endParaRPr lang="en-GB" sz="1200" dirty="0">
              <a:solidFill>
                <a:srgbClr val="5F787C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>
              <a:spcAft>
                <a:spcPts val="500"/>
              </a:spcAft>
              <a:buClr>
                <a:srgbClr val="B5502E"/>
              </a:buClr>
            </a:pPr>
            <a:r>
              <a:rPr lang="en-GB" sz="1200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 is a visiting professor at University College Dublin.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9857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GB" sz="2000" b="1" dirty="0">
                <a:solidFill>
                  <a:srgbClr val="173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James Sweeney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98576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B55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Director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248400" y="32004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200" i="1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James Sweeney is a Director of </a:t>
            </a:r>
            <a:r>
              <a:rPr lang="en-GB" sz="1200" i="1" dirty="0" err="1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Spatialis</a:t>
            </a:r>
            <a:r>
              <a:rPr lang="en-GB" sz="1200" i="1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a specialist in spatial analytics and data-led planning evidence, with over 15 years’ experience turning complex spatial and socio-economic data into clear evidence for planning and investment decisions.</a:t>
            </a:r>
          </a:p>
          <a:p>
            <a:endParaRPr lang="en-GB" sz="1200" i="1" dirty="0">
              <a:solidFill>
                <a:srgbClr val="5F787C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r>
              <a:rPr lang="en-GB" sz="1200" i="1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 pairs a planning background (Master of Regional and Urban Planning) with deep GIS and data-science expertise (MSc Geographical Information Science), delivering housing, retail, social-infrastructure and demographic studies for public bodies, private developers and EU research programmes.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AB014-1AD4-E009-49AC-C4C81C7ED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162524"/>
            <a:ext cx="14630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16E9B-6706-B99B-F3E8-305DB9B0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Background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Our approach is based on the following</a:t>
            </a:r>
          </a:p>
        </p:txBody>
      </p:sp>
      <p:sp>
        <p:nvSpPr>
          <p:cNvPr id="12" name="Panel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3" name="Badge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14" name="Icon TbBuildingCommunity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8019" y="2348179"/>
            <a:ext cx="424282" cy="424282"/>
          </a:xfrm>
          <a:prstGeom prst="rect">
            <a:avLst/>
          </a:prstGeom>
        </p:spPr>
      </p:pic>
      <p:sp>
        <p:nvSpPr>
          <p:cNvPr id="15" name="Statement"/>
          <p:cNvSpPr txBox="1"/>
          <p:nvPr/>
        </p:nvSpPr>
        <p:spPr>
          <a:xfrm>
            <a:off x="914400" y="3108960"/>
            <a:ext cx="4023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GB" sz="1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INDEPENDENT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26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An independent analysis of the Irish housing sector.</a:t>
            </a:r>
          </a:p>
        </p:txBody>
      </p:sp>
      <p:sp>
        <p:nvSpPr>
          <p:cNvPr id="16" name="Card"/>
          <p:cNvSpPr/>
          <p:nvPr/>
        </p:nvSpPr>
        <p:spPr>
          <a:xfrm>
            <a:off x="5577840" y="1828800"/>
            <a:ext cx="6062472" cy="21945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7" name="Badge"/>
          <p:cNvSpPr/>
          <p:nvPr/>
        </p:nvSpPr>
        <p:spPr>
          <a:xfrm>
            <a:off x="5852160" y="2103120"/>
            <a:ext cx="640080" cy="64008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18" name="Icon TbHomeStats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86577" y="2237537"/>
            <a:ext cx="371246" cy="371246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6766560" y="2084832"/>
            <a:ext cx="459943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GB" sz="18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Evidence-based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To provide a comprehensive, evidence-based assessment of the state of the housing system in Ireland, including recent performance, future delivery prospects, key constraints, and opportunities for reform.</a:t>
            </a:r>
          </a:p>
        </p:txBody>
      </p:sp>
      <p:sp>
        <p:nvSpPr>
          <p:cNvPr id="20" name="Card"/>
          <p:cNvSpPr/>
          <p:nvPr/>
        </p:nvSpPr>
        <p:spPr>
          <a:xfrm>
            <a:off x="5577840" y="4160520"/>
            <a:ext cx="6062472" cy="169164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1" name="Badge"/>
          <p:cNvSpPr/>
          <p:nvPr/>
        </p:nvSpPr>
        <p:spPr>
          <a:xfrm>
            <a:off x="5852160" y="4434840"/>
            <a:ext cx="640080" cy="64008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2" name="Icon TbFileText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86577" y="4569257"/>
            <a:ext cx="371246" cy="371246"/>
          </a:xfrm>
          <a:prstGeom prst="rect">
            <a:avLst/>
          </a:prstGeom>
        </p:spPr>
      </p:pic>
      <p:sp>
        <p:nvSpPr>
          <p:cNvPr id="23" name="Text"/>
          <p:cNvSpPr txBox="1"/>
          <p:nvPr/>
        </p:nvSpPr>
        <p:spPr>
          <a:xfrm>
            <a:off x="6766560" y="4416552"/>
            <a:ext cx="45994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GB" sz="18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Suitable for publication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Be suitable for publication and should contribute constructively to the national housing policy debate.</a:t>
            </a:r>
          </a:p>
        </p:txBody>
      </p:sp>
      <p:sp>
        <p:nvSpPr>
          <p:cNvPr id="24" name="Pixel house"/>
          <p:cNvSpPr/>
          <p:nvPr/>
        </p:nvSpPr>
        <p:spPr>
          <a:xfrm>
            <a:off x="11365992" y="612648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5" h="5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</a:path>
            </a:pathLst>
          </a:custGeom>
          <a:solidFill>
            <a:srgbClr val="B5502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5" name="Pixel house"/>
          <p:cNvSpPr/>
          <p:nvPr/>
        </p:nvSpPr>
        <p:spPr>
          <a:xfrm>
            <a:off x="10506456" y="5907024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7" h="7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1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5" y="3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2" y="5"/>
                </a:move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  <a:moveTo>
                  <a:pt x="5" y="5"/>
                </a:move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Pixel house"/>
          <p:cNvSpPr/>
          <p:nvPr/>
        </p:nvSpPr>
        <p:spPr>
          <a:xfrm>
            <a:off x="9866376" y="6016752"/>
            <a:ext cx="548640" cy="658368"/>
          </a:xfrm>
          <a:custGeom>
            <a:avLst/>
            <a:gdLst/>
            <a:ahLst/>
            <a:cxnLst/>
            <a:rect l="0" t="0" r="r" b="b"/>
            <a:pathLst>
              <a:path w="5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73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B9295-4C94-3D04-B82A-1752D5B7B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Objectives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Our approach is based on the following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1828800"/>
            <a:ext cx="3514344" cy="18745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3" name="Badge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14" name="Icon TbHomeSearch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3252" y="2107692"/>
            <a:ext cx="265176" cy="265176"/>
          </a:xfrm>
          <a:prstGeom prst="rect">
            <a:avLst/>
          </a:prstGeom>
        </p:spPr>
      </p:pic>
      <p:sp>
        <p:nvSpPr>
          <p:cNvPr id="15" name="Num"/>
          <p:cNvSpPr txBox="1"/>
          <p:nvPr/>
        </p:nvSpPr>
        <p:spPr>
          <a:xfrm>
            <a:off x="3057144" y="1993392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en-GB" sz="3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77240" y="2606040"/>
            <a:ext cx="3057144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Assess the current state of the Irish housing sector</a:t>
            </a:r>
          </a:p>
        </p:txBody>
      </p:sp>
      <p:sp>
        <p:nvSpPr>
          <p:cNvPr id="17" name="Card"/>
          <p:cNvSpPr/>
          <p:nvPr/>
        </p:nvSpPr>
        <p:spPr>
          <a:xfrm>
            <a:off x="4337304" y="1828800"/>
            <a:ext cx="3514344" cy="18745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8" name="Badge"/>
          <p:cNvSpPr/>
          <p:nvPr/>
        </p:nvSpPr>
        <p:spPr>
          <a:xfrm>
            <a:off x="4565904" y="2011680"/>
            <a:ext cx="457200" cy="45720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19" name="Icon TbHomeCheck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61916" y="2107692"/>
            <a:ext cx="265176" cy="265176"/>
          </a:xfrm>
          <a:prstGeom prst="rect">
            <a:avLst/>
          </a:prstGeom>
        </p:spPr>
      </p:pic>
      <p:sp>
        <p:nvSpPr>
          <p:cNvPr id="20" name="Num"/>
          <p:cNvSpPr txBox="1"/>
          <p:nvPr/>
        </p:nvSpPr>
        <p:spPr>
          <a:xfrm>
            <a:off x="6845808" y="1993392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en-GB" sz="3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65904" y="2606040"/>
            <a:ext cx="3057144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Review the performance of housing delivery in recent years</a:t>
            </a:r>
          </a:p>
        </p:txBody>
      </p:sp>
      <p:sp>
        <p:nvSpPr>
          <p:cNvPr id="22" name="Card"/>
          <p:cNvSpPr/>
          <p:nvPr/>
        </p:nvSpPr>
        <p:spPr>
          <a:xfrm>
            <a:off x="8125968" y="1828800"/>
            <a:ext cx="3514344" cy="18745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3" name="Badge"/>
          <p:cNvSpPr/>
          <p:nvPr/>
        </p:nvSpPr>
        <p:spPr>
          <a:xfrm>
            <a:off x="8354568" y="2011680"/>
            <a:ext cx="457200" cy="45720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4" name="Icon TbHomeDollar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50580" y="2107692"/>
            <a:ext cx="265176" cy="265176"/>
          </a:xfrm>
          <a:prstGeom prst="rect">
            <a:avLst/>
          </a:prstGeom>
        </p:spPr>
      </p:pic>
      <p:sp>
        <p:nvSpPr>
          <p:cNvPr id="25" name="Num"/>
          <p:cNvSpPr txBox="1"/>
          <p:nvPr/>
        </p:nvSpPr>
        <p:spPr>
          <a:xfrm>
            <a:off x="10634472" y="1993392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en-GB" sz="3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354568" y="2606040"/>
            <a:ext cx="3057144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Illustrate the effectiveness of current Government Housing Schemes and assess the additionality of housing supply they support</a:t>
            </a:r>
          </a:p>
        </p:txBody>
      </p:sp>
      <p:sp>
        <p:nvSpPr>
          <p:cNvPr id="27" name="Card"/>
          <p:cNvSpPr/>
          <p:nvPr/>
        </p:nvSpPr>
        <p:spPr>
          <a:xfrm>
            <a:off x="548640" y="3977640"/>
            <a:ext cx="3514344" cy="18745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8" name="Badge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9" name="Icon TbTargetArrow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3252" y="4256532"/>
            <a:ext cx="265176" cy="265176"/>
          </a:xfrm>
          <a:prstGeom prst="rect">
            <a:avLst/>
          </a:prstGeom>
        </p:spPr>
      </p:pic>
      <p:sp>
        <p:nvSpPr>
          <p:cNvPr id="30" name="Num"/>
          <p:cNvSpPr txBox="1"/>
          <p:nvPr/>
        </p:nvSpPr>
        <p:spPr>
          <a:xfrm>
            <a:off x="3057144" y="4142232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en-GB" sz="3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77240" y="4754880"/>
            <a:ext cx="3057144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Assess the likelihood of national housing delivery targets being achieved</a:t>
            </a:r>
          </a:p>
        </p:txBody>
      </p:sp>
      <p:sp>
        <p:nvSpPr>
          <p:cNvPr id="32" name="Card"/>
          <p:cNvSpPr/>
          <p:nvPr/>
        </p:nvSpPr>
        <p:spPr>
          <a:xfrm>
            <a:off x="4337304" y="3977640"/>
            <a:ext cx="3514344" cy="18745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3" name="Badge"/>
          <p:cNvSpPr/>
          <p:nvPr/>
        </p:nvSpPr>
        <p:spPr>
          <a:xfrm>
            <a:off x="4565904" y="4160520"/>
            <a:ext cx="457200" cy="45720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4" name="Icon TbChartLine" descr="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61916" y="4256532"/>
            <a:ext cx="265176" cy="265176"/>
          </a:xfrm>
          <a:prstGeom prst="rect">
            <a:avLst/>
          </a:prstGeom>
        </p:spPr>
      </p:pic>
      <p:sp>
        <p:nvSpPr>
          <p:cNvPr id="35" name="Num"/>
          <p:cNvSpPr txBox="1"/>
          <p:nvPr/>
        </p:nvSpPr>
        <p:spPr>
          <a:xfrm>
            <a:off x="6845808" y="4142232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en-GB" sz="3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05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4565904" y="4754880"/>
            <a:ext cx="3057144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Develop evidence-based projections for housing delivery to 2030 under a range of scenarios</a:t>
            </a:r>
          </a:p>
        </p:txBody>
      </p:sp>
      <p:sp>
        <p:nvSpPr>
          <p:cNvPr id="37" name="Card"/>
          <p:cNvSpPr/>
          <p:nvPr/>
        </p:nvSpPr>
        <p:spPr>
          <a:xfrm>
            <a:off x="8125968" y="3977640"/>
            <a:ext cx="3514344" cy="18745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8" name="Badge"/>
          <p:cNvSpPr/>
          <p:nvPr/>
        </p:nvSpPr>
        <p:spPr>
          <a:xfrm>
            <a:off x="8354568" y="4160520"/>
            <a:ext cx="457200" cy="45720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9" name="Icon TbBuildingBank" descr="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50580" y="4256532"/>
            <a:ext cx="265176" cy="265176"/>
          </a:xfrm>
          <a:prstGeom prst="rect">
            <a:avLst/>
          </a:prstGeom>
        </p:spPr>
      </p:pic>
      <p:sp>
        <p:nvSpPr>
          <p:cNvPr id="40" name="Num"/>
          <p:cNvSpPr txBox="1"/>
          <p:nvPr/>
        </p:nvSpPr>
        <p:spPr>
          <a:xfrm>
            <a:off x="10634472" y="4142232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en-GB" sz="3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06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354568" y="4754880"/>
            <a:ext cx="3057144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Identify policy measures that may be required to support increased housing delivery</a:t>
            </a:r>
          </a:p>
        </p:txBody>
      </p:sp>
      <p:sp>
        <p:nvSpPr>
          <p:cNvPr id="42" name="Pixel house"/>
          <p:cNvSpPr/>
          <p:nvPr/>
        </p:nvSpPr>
        <p:spPr>
          <a:xfrm>
            <a:off x="11365992" y="612648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5" h="5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</a:path>
            </a:pathLst>
          </a:custGeom>
          <a:solidFill>
            <a:srgbClr val="B5502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3" name="Pixel house"/>
          <p:cNvSpPr/>
          <p:nvPr/>
        </p:nvSpPr>
        <p:spPr>
          <a:xfrm>
            <a:off x="10506456" y="5907024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7" h="7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1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5" y="3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2" y="5"/>
                </a:move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  <a:moveTo>
                  <a:pt x="5" y="5"/>
                </a:move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4" name="Pixel house"/>
          <p:cNvSpPr/>
          <p:nvPr/>
        </p:nvSpPr>
        <p:spPr>
          <a:xfrm>
            <a:off x="9866376" y="6016752"/>
            <a:ext cx="548640" cy="658368"/>
          </a:xfrm>
          <a:custGeom>
            <a:avLst/>
            <a:gdLst/>
            <a:ahLst/>
            <a:cxnLst/>
            <a:rect l="0" t="0" r="r" b="b"/>
            <a:pathLst>
              <a:path w="5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52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Structure of report: stages 1–3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4300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Based on Background and Objectives</a:t>
            </a:r>
          </a:p>
        </p:txBody>
      </p:sp>
      <p:sp>
        <p:nvSpPr>
          <p:cNvPr id="12" name="Tracker line"/>
          <p:cNvSpPr/>
          <p:nvPr/>
        </p:nvSpPr>
        <p:spPr>
          <a:xfrm>
            <a:off x="7909560" y="1312164"/>
            <a:ext cx="3566160" cy="27432"/>
          </a:xfrm>
          <a:prstGeom prst="rect">
            <a:avLst/>
          </a:prstGeom>
          <a:solidFill>
            <a:srgbClr val="A9BCC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3" name="Stage 1"/>
          <p:cNvSpPr/>
          <p:nvPr/>
        </p:nvSpPr>
        <p:spPr>
          <a:xfrm>
            <a:off x="7726680" y="1143000"/>
            <a:ext cx="365760" cy="36576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4" name="Stage 2"/>
          <p:cNvSpPr/>
          <p:nvPr/>
        </p:nvSpPr>
        <p:spPr>
          <a:xfrm>
            <a:off x="8439912" y="1143000"/>
            <a:ext cx="365760" cy="36576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5" name="Stage 3"/>
          <p:cNvSpPr/>
          <p:nvPr/>
        </p:nvSpPr>
        <p:spPr>
          <a:xfrm>
            <a:off x="9153144" y="1143000"/>
            <a:ext cx="365760" cy="36576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6" name="Stage 4"/>
          <p:cNvSpPr/>
          <p:nvPr/>
        </p:nvSpPr>
        <p:spPr>
          <a:xfrm>
            <a:off x="9866376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7" name="Stage 5"/>
          <p:cNvSpPr/>
          <p:nvPr/>
        </p:nvSpPr>
        <p:spPr>
          <a:xfrm>
            <a:off x="10579608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8" name="Stage 6"/>
          <p:cNvSpPr/>
          <p:nvPr/>
        </p:nvSpPr>
        <p:spPr>
          <a:xfrm>
            <a:off x="11292840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1828800"/>
            <a:ext cx="3514344" cy="40233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0" name="Badge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1" name="Icon TbBuildingCommunity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8573" y="2071573"/>
            <a:ext cx="291694" cy="291694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822960" y="2606040"/>
            <a:ext cx="2965704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200" b="1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STAGE 1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Scene Setting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Establishing the context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Setting out the context of the study</a:t>
            </a:r>
          </a:p>
        </p:txBody>
      </p:sp>
      <p:sp>
        <p:nvSpPr>
          <p:cNvPr id="23" name="Card"/>
          <p:cNvSpPr/>
          <p:nvPr/>
        </p:nvSpPr>
        <p:spPr>
          <a:xfrm>
            <a:off x="4337304" y="1828800"/>
            <a:ext cx="3514344" cy="40233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4" name="Badge"/>
          <p:cNvSpPr/>
          <p:nvPr/>
        </p:nvSpPr>
        <p:spPr>
          <a:xfrm>
            <a:off x="4611624" y="1965960"/>
            <a:ext cx="502920" cy="50292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5" name="Icon TbBuildingBank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17237" y="2071573"/>
            <a:ext cx="291694" cy="291694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4611624" y="2606040"/>
            <a:ext cx="2965704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200" b="1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STAGE 2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Policy, strategy and literature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Policy, strategy and current literature assessment/landscape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Assessing the impact of significant housing policies, strategies, interventions and literature thinking, and identify measures that have positively influenced housing delivery, together with measures that may be constraining delivery.</a:t>
            </a:r>
          </a:p>
        </p:txBody>
      </p:sp>
      <p:sp>
        <p:nvSpPr>
          <p:cNvPr id="27" name="Card"/>
          <p:cNvSpPr/>
          <p:nvPr/>
        </p:nvSpPr>
        <p:spPr>
          <a:xfrm>
            <a:off x="8125968" y="1828800"/>
            <a:ext cx="3514344" cy="40233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8" name="Badge"/>
          <p:cNvSpPr/>
          <p:nvPr/>
        </p:nvSpPr>
        <p:spPr>
          <a:xfrm>
            <a:off x="8400288" y="1965960"/>
            <a:ext cx="502920" cy="50292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9" name="Icon TbUsersGroup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5901" y="2071573"/>
            <a:ext cx="291694" cy="291694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8400288" y="2606040"/>
            <a:ext cx="2965704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200" b="1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STAGE 3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Housing Demand Assessment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Specifically assessing:</a:t>
            </a:r>
          </a:p>
          <a:p>
            <a:pPr marL="228600" indent="-228600" algn="l">
              <a:spcAft>
                <a:spcPts val="500"/>
              </a:spcAft>
              <a:buClr>
                <a:srgbClr val="B5502E"/>
              </a:buClr>
              <a:buFont typeface="Arial"/>
              <a:buChar char="•"/>
            </a:pPr>
            <a:r>
              <a:rPr lang="en-GB" sz="15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Population growth and demographic trends</a:t>
            </a:r>
          </a:p>
          <a:p>
            <a:pPr marL="228600" indent="-228600" algn="l">
              <a:spcAft>
                <a:spcPts val="500"/>
              </a:spcAft>
              <a:buClr>
                <a:srgbClr val="B5502E"/>
              </a:buClr>
              <a:buFont typeface="Arial"/>
              <a:buChar char="•"/>
            </a:pPr>
            <a:r>
              <a:rPr lang="en-GB" sz="15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Household formation</a:t>
            </a:r>
          </a:p>
          <a:p>
            <a:pPr marL="228600" indent="-228600" algn="l">
              <a:spcAft>
                <a:spcPts val="500"/>
              </a:spcAft>
              <a:buClr>
                <a:srgbClr val="B5502E"/>
              </a:buClr>
              <a:buFont typeface="Arial"/>
              <a:buChar char="•"/>
            </a:pPr>
            <a:r>
              <a:rPr lang="en-GB" sz="15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Migration and labour market considerations</a:t>
            </a:r>
          </a:p>
          <a:p>
            <a:pPr marL="228600" indent="-228600" algn="l">
              <a:spcAft>
                <a:spcPts val="500"/>
              </a:spcAft>
              <a:buClr>
                <a:srgbClr val="B5502E"/>
              </a:buClr>
              <a:buFont typeface="Arial"/>
              <a:buChar char="•"/>
            </a:pPr>
            <a:r>
              <a:rPr lang="en-GB" sz="15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Regional demand</a:t>
            </a:r>
          </a:p>
        </p:txBody>
      </p:sp>
      <p:sp>
        <p:nvSpPr>
          <p:cNvPr id="31" name="Pixel house"/>
          <p:cNvSpPr/>
          <p:nvPr/>
        </p:nvSpPr>
        <p:spPr>
          <a:xfrm>
            <a:off x="11365992" y="612648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5" h="5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</a:path>
            </a:pathLst>
          </a:custGeom>
          <a:solidFill>
            <a:srgbClr val="B5502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Pixel house"/>
          <p:cNvSpPr/>
          <p:nvPr/>
        </p:nvSpPr>
        <p:spPr>
          <a:xfrm>
            <a:off x="10506456" y="5907024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7" h="7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1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5" y="3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2" y="5"/>
                </a:move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  <a:moveTo>
                  <a:pt x="5" y="5"/>
                </a:move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3" name="Pixel house"/>
          <p:cNvSpPr/>
          <p:nvPr/>
        </p:nvSpPr>
        <p:spPr>
          <a:xfrm>
            <a:off x="9866376" y="6016752"/>
            <a:ext cx="548640" cy="658368"/>
          </a:xfrm>
          <a:custGeom>
            <a:avLst/>
            <a:gdLst/>
            <a:ahLst/>
            <a:cxnLst/>
            <a:rect l="0" t="0" r="r" b="b"/>
            <a:pathLst>
              <a:path w="5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8FB9-06C8-5C2C-B4DE-53640450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Structure of report: stage 4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4300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Housing supply analysis</a:t>
            </a:r>
          </a:p>
        </p:txBody>
      </p:sp>
      <p:sp>
        <p:nvSpPr>
          <p:cNvPr id="12" name="Tracker line"/>
          <p:cNvSpPr/>
          <p:nvPr/>
        </p:nvSpPr>
        <p:spPr>
          <a:xfrm>
            <a:off x="7909560" y="1312164"/>
            <a:ext cx="3566160" cy="27432"/>
          </a:xfrm>
          <a:prstGeom prst="rect">
            <a:avLst/>
          </a:prstGeom>
          <a:solidFill>
            <a:srgbClr val="A9BCC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3" name="Stage 1"/>
          <p:cNvSpPr/>
          <p:nvPr/>
        </p:nvSpPr>
        <p:spPr>
          <a:xfrm>
            <a:off x="7726680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4" name="Stage 2"/>
          <p:cNvSpPr/>
          <p:nvPr/>
        </p:nvSpPr>
        <p:spPr>
          <a:xfrm>
            <a:off x="8439912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5" name="Stage 3"/>
          <p:cNvSpPr/>
          <p:nvPr/>
        </p:nvSpPr>
        <p:spPr>
          <a:xfrm>
            <a:off x="9153144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6" name="Stage 4"/>
          <p:cNvSpPr/>
          <p:nvPr/>
        </p:nvSpPr>
        <p:spPr>
          <a:xfrm>
            <a:off x="9866376" y="1143000"/>
            <a:ext cx="365760" cy="36576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7" name="Stage 5"/>
          <p:cNvSpPr/>
          <p:nvPr/>
        </p:nvSpPr>
        <p:spPr>
          <a:xfrm>
            <a:off x="10579608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8" name="Stage 6"/>
          <p:cNvSpPr/>
          <p:nvPr/>
        </p:nvSpPr>
        <p:spPr>
          <a:xfrm>
            <a:off x="11292840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9" name="Panel"/>
          <p:cNvSpPr/>
          <p:nvPr/>
        </p:nvSpPr>
        <p:spPr>
          <a:xfrm>
            <a:off x="548640" y="1828800"/>
            <a:ext cx="3566160" cy="402336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0" name="Badge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1" name="Icon TbCrane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8019" y="2348179"/>
            <a:ext cx="424282" cy="424282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914400" y="3200400"/>
            <a:ext cx="292608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STAGE 4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GB" sz="26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Housing Supply Analysis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Specifically assessing:</a:t>
            </a:r>
          </a:p>
        </p:txBody>
      </p:sp>
      <p:sp>
        <p:nvSpPr>
          <p:cNvPr id="23" name="Row"/>
          <p:cNvSpPr/>
          <p:nvPr/>
        </p:nvSpPr>
        <p:spPr>
          <a:xfrm>
            <a:off x="4389120" y="1828800"/>
            <a:ext cx="7251192" cy="7315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4" name="Badge"/>
          <p:cNvSpPr/>
          <p:nvPr/>
        </p:nvSpPr>
        <p:spPr>
          <a:xfrm>
            <a:off x="4553712" y="1965960"/>
            <a:ext cx="457200" cy="45720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5" name="Icon TbFileCheck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49724" y="2061972"/>
            <a:ext cx="265176" cy="265176"/>
          </a:xfrm>
          <a:prstGeom prst="rect">
            <a:avLst/>
          </a:prstGeom>
        </p:spPr>
      </p:pic>
      <p:sp>
        <p:nvSpPr>
          <p:cNvPr id="26" name="Chip"/>
          <p:cNvSpPr/>
          <p:nvPr/>
        </p:nvSpPr>
        <p:spPr>
          <a:xfrm>
            <a:off x="5212080" y="1984248"/>
            <a:ext cx="1463040" cy="420624"/>
          </a:xfrm>
          <a:prstGeom prst="roundRect">
            <a:avLst/>
          </a:prstGeom>
          <a:solidFill>
            <a:srgbClr val="2E54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Permissions</a:t>
            </a:r>
          </a:p>
        </p:txBody>
      </p:sp>
      <p:sp>
        <p:nvSpPr>
          <p:cNvPr id="27" name="Arrow"/>
          <p:cNvSpPr/>
          <p:nvPr/>
        </p:nvSpPr>
        <p:spPr>
          <a:xfrm>
            <a:off x="6693408" y="2075688"/>
            <a:ext cx="128016" cy="237744"/>
          </a:xfrm>
          <a:prstGeom prst="rightArrow">
            <a:avLst/>
          </a:prstGeom>
          <a:solidFill>
            <a:srgbClr val="A9BCC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8" name="Chip"/>
          <p:cNvSpPr/>
          <p:nvPr/>
        </p:nvSpPr>
        <p:spPr>
          <a:xfrm>
            <a:off x="6876288" y="1984248"/>
            <a:ext cx="1783080" cy="420624"/>
          </a:xfrm>
          <a:prstGeom prst="roundRect">
            <a:avLst/>
          </a:prstGeom>
          <a:solidFill>
            <a:srgbClr val="2E54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Commencements</a:t>
            </a:r>
          </a:p>
        </p:txBody>
      </p:sp>
      <p:sp>
        <p:nvSpPr>
          <p:cNvPr id="29" name="Arrow"/>
          <p:cNvSpPr/>
          <p:nvPr/>
        </p:nvSpPr>
        <p:spPr>
          <a:xfrm>
            <a:off x="8677656" y="2075688"/>
            <a:ext cx="128016" cy="237744"/>
          </a:xfrm>
          <a:prstGeom prst="rightArrow">
            <a:avLst/>
          </a:prstGeom>
          <a:solidFill>
            <a:srgbClr val="A9BCC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0" name="Chip"/>
          <p:cNvSpPr/>
          <p:nvPr/>
        </p:nvSpPr>
        <p:spPr>
          <a:xfrm>
            <a:off x="8860536" y="1984248"/>
            <a:ext cx="1463040" cy="420624"/>
          </a:xfrm>
          <a:prstGeom prst="roundRect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Completions</a:t>
            </a:r>
          </a:p>
        </p:txBody>
      </p:sp>
      <p:sp>
        <p:nvSpPr>
          <p:cNvPr id="31" name="Row"/>
          <p:cNvSpPr/>
          <p:nvPr/>
        </p:nvSpPr>
        <p:spPr>
          <a:xfrm>
            <a:off x="4389120" y="2670048"/>
            <a:ext cx="7251192" cy="658368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2" name="Badge"/>
          <p:cNvSpPr/>
          <p:nvPr/>
        </p:nvSpPr>
        <p:spPr>
          <a:xfrm>
            <a:off x="4553712" y="2770632"/>
            <a:ext cx="457200" cy="45720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3" name="Icon TbHomeHeart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49724" y="2866644"/>
            <a:ext cx="265176" cy="265176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5212080" y="2670048"/>
            <a:ext cx="624535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Social and affordable housing delivery</a:t>
            </a:r>
          </a:p>
        </p:txBody>
      </p:sp>
      <p:sp>
        <p:nvSpPr>
          <p:cNvPr id="35" name="Row"/>
          <p:cNvSpPr/>
          <p:nvPr/>
        </p:nvSpPr>
        <p:spPr>
          <a:xfrm>
            <a:off x="4389120" y="3438144"/>
            <a:ext cx="7251192" cy="658368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6" name="Badge"/>
          <p:cNvSpPr/>
          <p:nvPr/>
        </p:nvSpPr>
        <p:spPr>
          <a:xfrm>
            <a:off x="4553712" y="3538728"/>
            <a:ext cx="457200" cy="45720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7" name="Icon TbBuildingSkyscraper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49724" y="3634740"/>
            <a:ext cx="265176" cy="265176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5212080" y="3438144"/>
            <a:ext cx="624535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Apartment delivery</a:t>
            </a:r>
          </a:p>
        </p:txBody>
      </p:sp>
      <p:sp>
        <p:nvSpPr>
          <p:cNvPr id="39" name="Row"/>
          <p:cNvSpPr/>
          <p:nvPr/>
        </p:nvSpPr>
        <p:spPr>
          <a:xfrm>
            <a:off x="4389120" y="4206240"/>
            <a:ext cx="7251192" cy="658368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40" name="Badge"/>
          <p:cNvSpPr/>
          <p:nvPr/>
        </p:nvSpPr>
        <p:spPr>
          <a:xfrm>
            <a:off x="4553712" y="4306824"/>
            <a:ext cx="457200" cy="45720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41" name="Icon TbMap2" descr="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49724" y="4402836"/>
            <a:ext cx="265176" cy="265176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5212080" y="4206240"/>
            <a:ext cx="624535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Regional delivery</a:t>
            </a:r>
          </a:p>
        </p:txBody>
      </p:sp>
      <p:sp>
        <p:nvSpPr>
          <p:cNvPr id="43" name="Row"/>
          <p:cNvSpPr/>
          <p:nvPr/>
        </p:nvSpPr>
        <p:spPr>
          <a:xfrm>
            <a:off x="4389120" y="4974336"/>
            <a:ext cx="7251192" cy="86868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44" name="Badge"/>
          <p:cNvSpPr/>
          <p:nvPr/>
        </p:nvSpPr>
        <p:spPr>
          <a:xfrm>
            <a:off x="4553712" y="5180076"/>
            <a:ext cx="457200" cy="45720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45" name="Icon TbKey" descr="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49724" y="5276088"/>
            <a:ext cx="265176" cy="265176"/>
          </a:xfrm>
          <a:prstGeom prst="rect">
            <a:avLst/>
          </a:prstGeom>
        </p:spPr>
      </p:pic>
      <p:sp>
        <p:nvSpPr>
          <p:cNvPr id="46" name="Text"/>
          <p:cNvSpPr txBox="1"/>
          <p:nvPr/>
        </p:nvSpPr>
        <p:spPr>
          <a:xfrm>
            <a:off x="5212080" y="4974336"/>
            <a:ext cx="624535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Delivery targeted for specific sects of society, e.g., housing for older people and first time buyers</a:t>
            </a:r>
          </a:p>
        </p:txBody>
      </p:sp>
      <p:sp>
        <p:nvSpPr>
          <p:cNvPr id="47" name="Pixel house"/>
          <p:cNvSpPr/>
          <p:nvPr/>
        </p:nvSpPr>
        <p:spPr>
          <a:xfrm>
            <a:off x="11365992" y="612648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5" h="5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</a:path>
            </a:pathLst>
          </a:custGeom>
          <a:solidFill>
            <a:srgbClr val="B5502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8" name="Pixel house"/>
          <p:cNvSpPr/>
          <p:nvPr/>
        </p:nvSpPr>
        <p:spPr>
          <a:xfrm>
            <a:off x="10506456" y="5907024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7" h="7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1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5" y="3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2" y="5"/>
                </a:move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  <a:moveTo>
                  <a:pt x="5" y="5"/>
                </a:move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9" name="Pixel house"/>
          <p:cNvSpPr/>
          <p:nvPr/>
        </p:nvSpPr>
        <p:spPr>
          <a:xfrm>
            <a:off x="9866376" y="6016752"/>
            <a:ext cx="548640" cy="658368"/>
          </a:xfrm>
          <a:custGeom>
            <a:avLst/>
            <a:gdLst/>
            <a:ahLst/>
            <a:cxnLst/>
            <a:rect l="0" t="0" r="r" b="b"/>
            <a:pathLst>
              <a:path w="5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87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B8FD-FC1D-05DB-FDE3-440531E7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Stage 5: delivery constraints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4300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Factors grouped under three constraint themes</a:t>
            </a:r>
          </a:p>
        </p:txBody>
      </p:sp>
      <p:sp>
        <p:nvSpPr>
          <p:cNvPr id="12" name="Tracker line"/>
          <p:cNvSpPr/>
          <p:nvPr/>
        </p:nvSpPr>
        <p:spPr>
          <a:xfrm>
            <a:off x="7909560" y="1312164"/>
            <a:ext cx="3566160" cy="27432"/>
          </a:xfrm>
          <a:prstGeom prst="rect">
            <a:avLst/>
          </a:prstGeom>
          <a:solidFill>
            <a:srgbClr val="A9BCC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3" name="Stage 1"/>
          <p:cNvSpPr/>
          <p:nvPr/>
        </p:nvSpPr>
        <p:spPr>
          <a:xfrm>
            <a:off x="7726680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4" name="Stage 2"/>
          <p:cNvSpPr/>
          <p:nvPr/>
        </p:nvSpPr>
        <p:spPr>
          <a:xfrm>
            <a:off x="8439912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5" name="Stage 3"/>
          <p:cNvSpPr/>
          <p:nvPr/>
        </p:nvSpPr>
        <p:spPr>
          <a:xfrm>
            <a:off x="9153144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6" name="Stage 4"/>
          <p:cNvSpPr/>
          <p:nvPr/>
        </p:nvSpPr>
        <p:spPr>
          <a:xfrm>
            <a:off x="9866376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7" name="Stage 5"/>
          <p:cNvSpPr/>
          <p:nvPr/>
        </p:nvSpPr>
        <p:spPr>
          <a:xfrm>
            <a:off x="10579608" y="1143000"/>
            <a:ext cx="365760" cy="36576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8" name="Stage 6"/>
          <p:cNvSpPr/>
          <p:nvPr/>
        </p:nvSpPr>
        <p:spPr>
          <a:xfrm>
            <a:off x="11292840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9" name="Header"/>
          <p:cNvSpPr/>
          <p:nvPr/>
        </p:nvSpPr>
        <p:spPr>
          <a:xfrm>
            <a:off x="548640" y="1828800"/>
            <a:ext cx="3514344" cy="86868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0" name="Badge"/>
          <p:cNvSpPr/>
          <p:nvPr/>
        </p:nvSpPr>
        <p:spPr>
          <a:xfrm>
            <a:off x="777240" y="1984248"/>
            <a:ext cx="548640" cy="54864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1" name="Icon TbScale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2454" y="2099462"/>
            <a:ext cx="318211" cy="318211"/>
          </a:xfrm>
          <a:prstGeom prst="rect">
            <a:avLst/>
          </a:prstGeom>
        </p:spPr>
      </p:pic>
      <p:sp>
        <p:nvSpPr>
          <p:cNvPr id="22" name="Theme"/>
          <p:cNvSpPr txBox="1"/>
          <p:nvPr/>
        </p:nvSpPr>
        <p:spPr>
          <a:xfrm>
            <a:off x="1508760" y="1828800"/>
            <a:ext cx="2417064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THEME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Administrative</a:t>
            </a:r>
          </a:p>
        </p:txBody>
      </p:sp>
      <p:sp>
        <p:nvSpPr>
          <p:cNvPr id="23" name="Factor"/>
          <p:cNvSpPr/>
          <p:nvPr/>
        </p:nvSpPr>
        <p:spPr>
          <a:xfrm>
            <a:off x="548640" y="2834640"/>
            <a:ext cx="3514344" cy="822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Planning system</a:t>
            </a:r>
          </a:p>
        </p:txBody>
      </p:sp>
      <p:sp>
        <p:nvSpPr>
          <p:cNvPr id="24" name="Factor"/>
          <p:cNvSpPr/>
          <p:nvPr/>
        </p:nvSpPr>
        <p:spPr>
          <a:xfrm>
            <a:off x="548640" y="3767328"/>
            <a:ext cx="3514344" cy="132588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Regulatory and policy requirements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3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Part V, Compact Growth, Utility Connection processes or any other relevant areas</a:t>
            </a:r>
          </a:p>
        </p:txBody>
      </p:sp>
      <p:sp>
        <p:nvSpPr>
          <p:cNvPr id="25" name="Header"/>
          <p:cNvSpPr/>
          <p:nvPr/>
        </p:nvSpPr>
        <p:spPr>
          <a:xfrm>
            <a:off x="4337304" y="1828800"/>
            <a:ext cx="3514344" cy="86868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6" name="Badge"/>
          <p:cNvSpPr/>
          <p:nvPr/>
        </p:nvSpPr>
        <p:spPr>
          <a:xfrm>
            <a:off x="4565904" y="1984248"/>
            <a:ext cx="548640" cy="54864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7" name="Icon TbBulldozer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81118" y="2099462"/>
            <a:ext cx="318211" cy="318211"/>
          </a:xfrm>
          <a:prstGeom prst="rect">
            <a:avLst/>
          </a:prstGeom>
        </p:spPr>
      </p:pic>
      <p:sp>
        <p:nvSpPr>
          <p:cNvPr id="28" name="Theme"/>
          <p:cNvSpPr txBox="1"/>
          <p:nvPr/>
        </p:nvSpPr>
        <p:spPr>
          <a:xfrm>
            <a:off x="5297424" y="1828800"/>
            <a:ext cx="2417064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THEME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Physical</a:t>
            </a:r>
          </a:p>
        </p:txBody>
      </p:sp>
      <p:sp>
        <p:nvSpPr>
          <p:cNvPr id="29" name="Factor"/>
          <p:cNvSpPr/>
          <p:nvPr/>
        </p:nvSpPr>
        <p:spPr>
          <a:xfrm>
            <a:off x="4337304" y="2834640"/>
            <a:ext cx="3514344" cy="822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Infrastructure provision</a:t>
            </a:r>
          </a:p>
        </p:txBody>
      </p:sp>
      <p:sp>
        <p:nvSpPr>
          <p:cNvPr id="30" name="Factor"/>
          <p:cNvSpPr/>
          <p:nvPr/>
        </p:nvSpPr>
        <p:spPr>
          <a:xfrm>
            <a:off x="4337304" y="3767328"/>
            <a:ext cx="3514344" cy="822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Labour availability and skills</a:t>
            </a:r>
          </a:p>
        </p:txBody>
      </p:sp>
      <p:sp>
        <p:nvSpPr>
          <p:cNvPr id="31" name="Factor"/>
          <p:cNvSpPr/>
          <p:nvPr/>
        </p:nvSpPr>
        <p:spPr>
          <a:xfrm>
            <a:off x="4337304" y="4700016"/>
            <a:ext cx="3514344" cy="822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Land availability</a:t>
            </a:r>
          </a:p>
        </p:txBody>
      </p:sp>
      <p:sp>
        <p:nvSpPr>
          <p:cNvPr id="32" name="Header"/>
          <p:cNvSpPr/>
          <p:nvPr/>
        </p:nvSpPr>
        <p:spPr>
          <a:xfrm>
            <a:off x="8125968" y="1828800"/>
            <a:ext cx="3514344" cy="86868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3" name="Badge"/>
          <p:cNvSpPr/>
          <p:nvPr/>
        </p:nvSpPr>
        <p:spPr>
          <a:xfrm>
            <a:off x="8354568" y="1984248"/>
            <a:ext cx="548640" cy="54864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4" name="Icon TbCoins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69782" y="2099462"/>
            <a:ext cx="318211" cy="318211"/>
          </a:xfrm>
          <a:prstGeom prst="rect">
            <a:avLst/>
          </a:prstGeom>
        </p:spPr>
      </p:pic>
      <p:sp>
        <p:nvSpPr>
          <p:cNvPr id="35" name="Theme"/>
          <p:cNvSpPr txBox="1"/>
          <p:nvPr/>
        </p:nvSpPr>
        <p:spPr>
          <a:xfrm>
            <a:off x="9086088" y="1828800"/>
            <a:ext cx="2417064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THEME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Financial</a:t>
            </a:r>
          </a:p>
        </p:txBody>
      </p:sp>
      <p:sp>
        <p:nvSpPr>
          <p:cNvPr id="36" name="Factor"/>
          <p:cNvSpPr/>
          <p:nvPr/>
        </p:nvSpPr>
        <p:spPr>
          <a:xfrm>
            <a:off x="8125968" y="2834640"/>
            <a:ext cx="3514344" cy="822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Development finance</a:t>
            </a:r>
          </a:p>
        </p:txBody>
      </p:sp>
      <p:sp>
        <p:nvSpPr>
          <p:cNvPr id="37" name="Factor"/>
          <p:cNvSpPr/>
          <p:nvPr/>
        </p:nvSpPr>
        <p:spPr>
          <a:xfrm>
            <a:off x="8125968" y="3767328"/>
            <a:ext cx="3514344" cy="822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Construction costs</a:t>
            </a:r>
          </a:p>
        </p:txBody>
      </p:sp>
      <p:sp>
        <p:nvSpPr>
          <p:cNvPr id="38" name="Factor"/>
          <p:cNvSpPr/>
          <p:nvPr/>
        </p:nvSpPr>
        <p:spPr>
          <a:xfrm>
            <a:off x="8125968" y="4700016"/>
            <a:ext cx="3514344" cy="822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Development viability</a:t>
            </a:r>
          </a:p>
        </p:txBody>
      </p:sp>
      <p:sp>
        <p:nvSpPr>
          <p:cNvPr id="39" name="Pixel house"/>
          <p:cNvSpPr/>
          <p:nvPr/>
        </p:nvSpPr>
        <p:spPr>
          <a:xfrm>
            <a:off x="11365992" y="612648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5" h="5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</a:path>
            </a:pathLst>
          </a:custGeom>
          <a:solidFill>
            <a:srgbClr val="B5502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Pixel house"/>
          <p:cNvSpPr/>
          <p:nvPr/>
        </p:nvSpPr>
        <p:spPr>
          <a:xfrm>
            <a:off x="10506456" y="5907024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7" h="7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1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5" y="3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2" y="5"/>
                </a:move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  <a:moveTo>
                  <a:pt x="5" y="5"/>
                </a:move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Pixel house"/>
          <p:cNvSpPr/>
          <p:nvPr/>
        </p:nvSpPr>
        <p:spPr>
          <a:xfrm>
            <a:off x="9866376" y="6016752"/>
            <a:ext cx="548640" cy="658368"/>
          </a:xfrm>
          <a:custGeom>
            <a:avLst/>
            <a:gdLst/>
            <a:ahLst/>
            <a:cxnLst/>
            <a:rect l="0" t="0" r="r" b="b"/>
            <a:pathLst>
              <a:path w="5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10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C8E2-1B9C-F9F4-4E30-A8907933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Stage 5: two strands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4300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This stage involves two strands</a:t>
            </a:r>
          </a:p>
        </p:txBody>
      </p:sp>
      <p:sp>
        <p:nvSpPr>
          <p:cNvPr id="12" name="Tracker line"/>
          <p:cNvSpPr/>
          <p:nvPr/>
        </p:nvSpPr>
        <p:spPr>
          <a:xfrm>
            <a:off x="7909560" y="1312164"/>
            <a:ext cx="3566160" cy="27432"/>
          </a:xfrm>
          <a:prstGeom prst="rect">
            <a:avLst/>
          </a:prstGeom>
          <a:solidFill>
            <a:srgbClr val="A9BCC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3" name="Stage 1"/>
          <p:cNvSpPr/>
          <p:nvPr/>
        </p:nvSpPr>
        <p:spPr>
          <a:xfrm>
            <a:off x="7726680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4" name="Stage 2"/>
          <p:cNvSpPr/>
          <p:nvPr/>
        </p:nvSpPr>
        <p:spPr>
          <a:xfrm>
            <a:off x="8439912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5" name="Stage 3"/>
          <p:cNvSpPr/>
          <p:nvPr/>
        </p:nvSpPr>
        <p:spPr>
          <a:xfrm>
            <a:off x="9153144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6" name="Stage 4"/>
          <p:cNvSpPr/>
          <p:nvPr/>
        </p:nvSpPr>
        <p:spPr>
          <a:xfrm>
            <a:off x="9866376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7" name="Stage 5"/>
          <p:cNvSpPr/>
          <p:nvPr/>
        </p:nvSpPr>
        <p:spPr>
          <a:xfrm>
            <a:off x="10579608" y="1143000"/>
            <a:ext cx="365760" cy="36576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8" name="Stage 6"/>
          <p:cNvSpPr/>
          <p:nvPr/>
        </p:nvSpPr>
        <p:spPr>
          <a:xfrm>
            <a:off x="11292840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9" name="Strand 1"/>
          <p:cNvSpPr/>
          <p:nvPr/>
        </p:nvSpPr>
        <p:spPr>
          <a:xfrm>
            <a:off x="548640" y="1828800"/>
            <a:ext cx="5408676" cy="402336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0" name="Text"/>
          <p:cNvSpPr txBox="1"/>
          <p:nvPr/>
        </p:nvSpPr>
        <p:spPr>
          <a:xfrm>
            <a:off x="868680" y="2103120"/>
            <a:ext cx="476859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STRAND 1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GB" sz="20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Strategic level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Examining the constraints at a strategic level</a:t>
            </a:r>
          </a:p>
        </p:txBody>
      </p:sp>
      <p:sp>
        <p:nvSpPr>
          <p:cNvPr id="21" name="Level"/>
          <p:cNvSpPr/>
          <p:nvPr/>
        </p:nvSpPr>
        <p:spPr>
          <a:xfrm>
            <a:off x="868680" y="3429000"/>
            <a:ext cx="4768596" cy="475488"/>
          </a:xfrm>
          <a:prstGeom prst="rect">
            <a:avLst/>
          </a:prstGeom>
          <a:solidFill>
            <a:srgbClr val="2E545B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National</a:t>
            </a:r>
          </a:p>
        </p:txBody>
      </p:sp>
      <p:sp>
        <p:nvSpPr>
          <p:cNvPr id="22" name="Level"/>
          <p:cNvSpPr/>
          <p:nvPr/>
        </p:nvSpPr>
        <p:spPr>
          <a:xfrm>
            <a:off x="868680" y="4014216"/>
            <a:ext cx="4037076" cy="475488"/>
          </a:xfrm>
          <a:prstGeom prst="rect">
            <a:avLst/>
          </a:prstGeom>
          <a:solidFill>
            <a:srgbClr val="2E545B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Regional</a:t>
            </a:r>
          </a:p>
        </p:txBody>
      </p:sp>
      <p:sp>
        <p:nvSpPr>
          <p:cNvPr id="23" name="Level"/>
          <p:cNvSpPr/>
          <p:nvPr/>
        </p:nvSpPr>
        <p:spPr>
          <a:xfrm>
            <a:off x="868680" y="4599432"/>
            <a:ext cx="3305556" cy="475488"/>
          </a:xfrm>
          <a:prstGeom prst="rect">
            <a:avLst/>
          </a:prstGeom>
          <a:solidFill>
            <a:srgbClr val="2E545B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City</a:t>
            </a:r>
          </a:p>
        </p:txBody>
      </p:sp>
      <p:sp>
        <p:nvSpPr>
          <p:cNvPr id="24" name="Level"/>
          <p:cNvSpPr/>
          <p:nvPr/>
        </p:nvSpPr>
        <p:spPr>
          <a:xfrm>
            <a:off x="868680" y="5184648"/>
            <a:ext cx="2574036" cy="475488"/>
          </a:xfrm>
          <a:prstGeom prst="rect">
            <a:avLst/>
          </a:prstGeom>
          <a:solidFill>
            <a:srgbClr val="B5502E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County</a:t>
            </a:r>
          </a:p>
        </p:txBody>
      </p:sp>
      <p:sp>
        <p:nvSpPr>
          <p:cNvPr id="25" name="Strand 2"/>
          <p:cNvSpPr/>
          <p:nvPr/>
        </p:nvSpPr>
        <p:spPr>
          <a:xfrm>
            <a:off x="6231636" y="1828800"/>
            <a:ext cx="5408676" cy="40233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6" name="Text"/>
          <p:cNvSpPr txBox="1"/>
          <p:nvPr/>
        </p:nvSpPr>
        <p:spPr>
          <a:xfrm>
            <a:off x="6551676" y="2103120"/>
            <a:ext cx="4768596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200" b="1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STRAND 2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GB" sz="2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Case study spatial analysis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A detailed “case study” spatial location analysis for more granular analysis of the constraints. Potentially three locations, selected in consultation/agreement with the IHBA:</a:t>
            </a:r>
          </a:p>
        </p:txBody>
      </p:sp>
      <p:sp>
        <p:nvSpPr>
          <p:cNvPr id="27" name="Loc"/>
          <p:cNvSpPr/>
          <p:nvPr/>
        </p:nvSpPr>
        <p:spPr>
          <a:xfrm>
            <a:off x="6551676" y="3794760"/>
            <a:ext cx="476859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8" name="Badge"/>
          <p:cNvSpPr/>
          <p:nvPr/>
        </p:nvSpPr>
        <p:spPr>
          <a:xfrm>
            <a:off x="6643116" y="3849624"/>
            <a:ext cx="457200" cy="45720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9" name="Icon TbBuildingSkyscraper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39128" y="3945636"/>
            <a:ext cx="265176" cy="265176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7237476" y="3794760"/>
            <a:ext cx="39456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Core city location</a:t>
            </a:r>
          </a:p>
        </p:txBody>
      </p:sp>
      <p:sp>
        <p:nvSpPr>
          <p:cNvPr id="31" name="Loc"/>
          <p:cNvSpPr/>
          <p:nvPr/>
        </p:nvSpPr>
        <p:spPr>
          <a:xfrm>
            <a:off x="6551676" y="4453128"/>
            <a:ext cx="476859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2" name="Badge"/>
          <p:cNvSpPr/>
          <p:nvPr/>
        </p:nvSpPr>
        <p:spPr>
          <a:xfrm>
            <a:off x="6643116" y="4507992"/>
            <a:ext cx="457200" cy="45720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3" name="Icon TbBuildingCommunity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39128" y="4604004"/>
            <a:ext cx="265176" cy="265176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7237476" y="4453128"/>
            <a:ext cx="39456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City-edge location</a:t>
            </a:r>
          </a:p>
        </p:txBody>
      </p:sp>
      <p:sp>
        <p:nvSpPr>
          <p:cNvPr id="35" name="Loc"/>
          <p:cNvSpPr/>
          <p:nvPr/>
        </p:nvSpPr>
        <p:spPr>
          <a:xfrm>
            <a:off x="6551676" y="5111496"/>
            <a:ext cx="476859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6" name="Badge"/>
          <p:cNvSpPr/>
          <p:nvPr/>
        </p:nvSpPr>
        <p:spPr>
          <a:xfrm>
            <a:off x="6643116" y="5166360"/>
            <a:ext cx="457200" cy="45720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7" name="Icon TbBuildingEstate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39128" y="5262372"/>
            <a:ext cx="265176" cy="265176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7237476" y="5111496"/>
            <a:ext cx="39456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Major urban settlement location</a:t>
            </a:r>
          </a:p>
        </p:txBody>
      </p:sp>
      <p:sp>
        <p:nvSpPr>
          <p:cNvPr id="39" name="Pixel house"/>
          <p:cNvSpPr/>
          <p:nvPr/>
        </p:nvSpPr>
        <p:spPr>
          <a:xfrm>
            <a:off x="11365992" y="612648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5" h="5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</a:path>
            </a:pathLst>
          </a:custGeom>
          <a:solidFill>
            <a:srgbClr val="B5502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Pixel house"/>
          <p:cNvSpPr/>
          <p:nvPr/>
        </p:nvSpPr>
        <p:spPr>
          <a:xfrm>
            <a:off x="10506456" y="5907024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7" h="7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1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5" y="3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2" y="5"/>
                </a:move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  <a:moveTo>
                  <a:pt x="5" y="5"/>
                </a:move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Pixel house"/>
          <p:cNvSpPr/>
          <p:nvPr/>
        </p:nvSpPr>
        <p:spPr>
          <a:xfrm>
            <a:off x="9866376" y="6016752"/>
            <a:ext cx="548640" cy="658368"/>
          </a:xfrm>
          <a:custGeom>
            <a:avLst/>
            <a:gdLst/>
            <a:ahLst/>
            <a:cxnLst/>
            <a:rect l="0" t="0" r="r" b="b"/>
            <a:pathLst>
              <a:path w="5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97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DBA93-0F42-AA39-AE5D-43838B6E6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Stakeholders and future outlook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4300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Stage 5 (continued) and Stage 6</a:t>
            </a:r>
          </a:p>
        </p:txBody>
      </p:sp>
      <p:sp>
        <p:nvSpPr>
          <p:cNvPr id="12" name="Tracker line"/>
          <p:cNvSpPr/>
          <p:nvPr/>
        </p:nvSpPr>
        <p:spPr>
          <a:xfrm>
            <a:off x="7909560" y="1312164"/>
            <a:ext cx="3566160" cy="27432"/>
          </a:xfrm>
          <a:prstGeom prst="rect">
            <a:avLst/>
          </a:prstGeom>
          <a:solidFill>
            <a:srgbClr val="A9BCC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3" name="Stage 1"/>
          <p:cNvSpPr/>
          <p:nvPr/>
        </p:nvSpPr>
        <p:spPr>
          <a:xfrm>
            <a:off x="7726680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4" name="Stage 2"/>
          <p:cNvSpPr/>
          <p:nvPr/>
        </p:nvSpPr>
        <p:spPr>
          <a:xfrm>
            <a:off x="8439912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5" name="Stage 3"/>
          <p:cNvSpPr/>
          <p:nvPr/>
        </p:nvSpPr>
        <p:spPr>
          <a:xfrm>
            <a:off x="9153144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6" name="Stage 4"/>
          <p:cNvSpPr/>
          <p:nvPr/>
        </p:nvSpPr>
        <p:spPr>
          <a:xfrm>
            <a:off x="9866376" y="1143000"/>
            <a:ext cx="365760" cy="365760"/>
          </a:xfrm>
          <a:prstGeom prst="ellipse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7" name="Stage 5"/>
          <p:cNvSpPr/>
          <p:nvPr/>
        </p:nvSpPr>
        <p:spPr>
          <a:xfrm>
            <a:off x="10579608" y="1143000"/>
            <a:ext cx="365760" cy="36576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8" name="Stage 6"/>
          <p:cNvSpPr/>
          <p:nvPr/>
        </p:nvSpPr>
        <p:spPr>
          <a:xfrm>
            <a:off x="11292840" y="1143000"/>
            <a:ext cx="365760" cy="365760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1828800"/>
            <a:ext cx="4937760" cy="40233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0" name="Badge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1" name="Icon TbUsersGroup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7377" y="2237537"/>
            <a:ext cx="371246" cy="371246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822960" y="2926080"/>
            <a:ext cx="4389120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200" b="1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STAGE 5 (CONTINUED)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Stakeholder engagement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4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This stage will involve stakeholder engagement, particularly with key stakeholders with essential knowledge and insights into the three selected locations.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Collectively, this approach will allow for the undertaking of “comparative analysis” and “additionality” – assessing housing delivery under what tenure, composition, funding approaches.</a:t>
            </a:r>
          </a:p>
        </p:txBody>
      </p:sp>
      <p:sp>
        <p:nvSpPr>
          <p:cNvPr id="23" name="Panel"/>
          <p:cNvSpPr/>
          <p:nvPr/>
        </p:nvSpPr>
        <p:spPr>
          <a:xfrm>
            <a:off x="5760720" y="1828800"/>
            <a:ext cx="5879592" cy="402336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4" name="Text"/>
          <p:cNvSpPr txBox="1"/>
          <p:nvPr/>
        </p:nvSpPr>
        <p:spPr>
          <a:xfrm>
            <a:off x="6080760" y="2057400"/>
            <a:ext cx="523951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GB" sz="1200" b="1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STAGE 6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GB" sz="20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Future Outlook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A forward-looking assessment of the housing sector to 2030, which will include:</a:t>
            </a:r>
          </a:p>
        </p:txBody>
      </p:sp>
      <p:sp>
        <p:nvSpPr>
          <p:cNvPr id="25" name="Badge"/>
          <p:cNvSpPr/>
          <p:nvPr/>
        </p:nvSpPr>
        <p:spPr>
          <a:xfrm>
            <a:off x="6080760" y="3090672"/>
            <a:ext cx="402336" cy="402336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6" name="Icon TbChartBar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5251" y="3175163"/>
            <a:ext cx="233355" cy="233355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6675120" y="3063240"/>
            <a:ext cx="46908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Quantitative projections for housing delivery</a:t>
            </a:r>
          </a:p>
        </p:txBody>
      </p:sp>
      <p:sp>
        <p:nvSpPr>
          <p:cNvPr id="28" name="Badge"/>
          <p:cNvSpPr/>
          <p:nvPr/>
        </p:nvSpPr>
        <p:spPr>
          <a:xfrm>
            <a:off x="6080760" y="3621024"/>
            <a:ext cx="402336" cy="402336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9" name="Icon TbTrendingUp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65251" y="3705515"/>
            <a:ext cx="233355" cy="233355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6675120" y="3593592"/>
            <a:ext cx="46908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Analysis of likely future trends</a:t>
            </a:r>
          </a:p>
        </p:txBody>
      </p:sp>
      <p:sp>
        <p:nvSpPr>
          <p:cNvPr id="31" name="Badge"/>
          <p:cNvSpPr/>
          <p:nvPr/>
        </p:nvSpPr>
        <p:spPr>
          <a:xfrm>
            <a:off x="6080760" y="4151376"/>
            <a:ext cx="402336" cy="402336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2" name="Icon TbAlertTriangle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65251" y="4235867"/>
            <a:ext cx="233355" cy="233355"/>
          </a:xfrm>
          <a:prstGeom prst="rect">
            <a:avLst/>
          </a:prstGeom>
        </p:spPr>
      </p:pic>
      <p:sp>
        <p:nvSpPr>
          <p:cNvPr id="33" name="Text"/>
          <p:cNvSpPr txBox="1"/>
          <p:nvPr/>
        </p:nvSpPr>
        <p:spPr>
          <a:xfrm>
            <a:off x="6675120" y="4123944"/>
            <a:ext cx="46908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Assessments of risks to delivery</a:t>
            </a:r>
          </a:p>
        </p:txBody>
      </p:sp>
      <p:sp>
        <p:nvSpPr>
          <p:cNvPr id="34" name="Badge"/>
          <p:cNvSpPr/>
          <p:nvPr/>
        </p:nvSpPr>
        <p:spPr>
          <a:xfrm>
            <a:off x="6080760" y="4681728"/>
            <a:ext cx="402336" cy="402336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5" name="Icon TbRoute" descr="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65251" y="4766219"/>
            <a:ext cx="233355" cy="233355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6675120" y="4654296"/>
            <a:ext cx="46908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Scenario analysis where appropriate</a:t>
            </a:r>
          </a:p>
        </p:txBody>
      </p:sp>
      <p:sp>
        <p:nvSpPr>
          <p:cNvPr id="37" name="Badge"/>
          <p:cNvSpPr/>
          <p:nvPr/>
        </p:nvSpPr>
        <p:spPr>
          <a:xfrm>
            <a:off x="6080760" y="5312664"/>
            <a:ext cx="402336" cy="402336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8" name="Icon TbFlag" descr="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65251" y="5397155"/>
            <a:ext cx="233355" cy="233355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6675120" y="5184648"/>
            <a:ext cx="469087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Identification of policy interventions that may be required to achieve housing targets</a:t>
            </a:r>
          </a:p>
        </p:txBody>
      </p:sp>
      <p:sp>
        <p:nvSpPr>
          <p:cNvPr id="40" name="Pixel house"/>
          <p:cNvSpPr/>
          <p:nvPr/>
        </p:nvSpPr>
        <p:spPr>
          <a:xfrm>
            <a:off x="11365992" y="612648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5" h="5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</a:path>
            </a:pathLst>
          </a:custGeom>
          <a:solidFill>
            <a:srgbClr val="B5502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Pixel house"/>
          <p:cNvSpPr/>
          <p:nvPr/>
        </p:nvSpPr>
        <p:spPr>
          <a:xfrm>
            <a:off x="10506456" y="5907024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7" h="7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1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5" y="3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2" y="5"/>
                </a:move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  <a:moveTo>
                  <a:pt x="5" y="5"/>
                </a:move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Pixel house"/>
          <p:cNvSpPr/>
          <p:nvPr/>
        </p:nvSpPr>
        <p:spPr>
          <a:xfrm>
            <a:off x="9866376" y="6016752"/>
            <a:ext cx="548640" cy="658368"/>
          </a:xfrm>
          <a:custGeom>
            <a:avLst/>
            <a:gdLst/>
            <a:ahLst/>
            <a:cxnLst/>
            <a:rect l="0" t="0" r="r" b="b"/>
            <a:pathLst>
              <a:path w="5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19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9FDA-14C4-BC9A-F793-8463E76A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Project deliverables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What we will produce, and when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1828800"/>
            <a:ext cx="2567178" cy="237744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3" name="Badge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14" name="Icon TbFileText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853" y="2117293"/>
            <a:ext cx="291694" cy="291694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777240" y="2651760"/>
            <a:ext cx="2109978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Main Report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3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Report suitable for public release</a:t>
            </a:r>
          </a:p>
        </p:txBody>
      </p:sp>
      <p:sp>
        <p:nvSpPr>
          <p:cNvPr id="16" name="Card"/>
          <p:cNvSpPr/>
          <p:nvPr/>
        </p:nvSpPr>
        <p:spPr>
          <a:xfrm>
            <a:off x="3390138" y="1828800"/>
            <a:ext cx="2567178" cy="237744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17" name="Badge"/>
          <p:cNvSpPr/>
          <p:nvPr/>
        </p:nvSpPr>
        <p:spPr>
          <a:xfrm>
            <a:off x="3618738" y="2011680"/>
            <a:ext cx="502920" cy="50292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18" name="Icon TbListDetails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24351" y="2117293"/>
            <a:ext cx="291694" cy="291694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3618738" y="2651760"/>
            <a:ext cx="2109978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Executive Summary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3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Concise summary of findings and recommendations</a:t>
            </a:r>
          </a:p>
        </p:txBody>
      </p:sp>
      <p:sp>
        <p:nvSpPr>
          <p:cNvPr id="20" name="Card"/>
          <p:cNvSpPr/>
          <p:nvPr/>
        </p:nvSpPr>
        <p:spPr>
          <a:xfrm>
            <a:off x="6231636" y="1828800"/>
            <a:ext cx="2567178" cy="237744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1" name="Badge"/>
          <p:cNvSpPr/>
          <p:nvPr/>
        </p:nvSpPr>
        <p:spPr>
          <a:xfrm>
            <a:off x="6460236" y="2011680"/>
            <a:ext cx="502920" cy="50292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2" name="Icon TbPresentation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65849" y="2117293"/>
            <a:ext cx="291694" cy="291694"/>
          </a:xfrm>
          <a:prstGeom prst="rect">
            <a:avLst/>
          </a:prstGeom>
        </p:spPr>
      </p:pic>
      <p:sp>
        <p:nvSpPr>
          <p:cNvPr id="23" name="Text"/>
          <p:cNvSpPr txBox="1"/>
          <p:nvPr/>
        </p:nvSpPr>
        <p:spPr>
          <a:xfrm>
            <a:off x="6460236" y="2651760"/>
            <a:ext cx="2109978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Presentation Material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3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Slides summarising key findings for use at the Annual Housing Conference</a:t>
            </a:r>
          </a:p>
        </p:txBody>
      </p:sp>
      <p:sp>
        <p:nvSpPr>
          <p:cNvPr id="24" name="Card"/>
          <p:cNvSpPr/>
          <p:nvPr/>
        </p:nvSpPr>
        <p:spPr>
          <a:xfrm>
            <a:off x="9073134" y="1828800"/>
            <a:ext cx="2567178" cy="237744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5" name="Badge"/>
          <p:cNvSpPr/>
          <p:nvPr/>
        </p:nvSpPr>
        <p:spPr>
          <a:xfrm>
            <a:off x="9301734" y="2011680"/>
            <a:ext cx="502920" cy="502920"/>
          </a:xfrm>
          <a:prstGeom prst="ellipse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26" name="Icon TbMicrophone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07347" y="2117293"/>
            <a:ext cx="291694" cy="291694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9301734" y="2651760"/>
            <a:ext cx="2109978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Conference Presentation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300" b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Presentation at the Annual Housing Conference</a:t>
            </a:r>
          </a:p>
        </p:txBody>
      </p:sp>
      <p:sp>
        <p:nvSpPr>
          <p:cNvPr id="28" name="Timeline"/>
          <p:cNvSpPr/>
          <p:nvPr/>
        </p:nvSpPr>
        <p:spPr>
          <a:xfrm>
            <a:off x="548640" y="4434840"/>
            <a:ext cx="11091672" cy="146304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29" name="Line"/>
          <p:cNvSpPr/>
          <p:nvPr/>
        </p:nvSpPr>
        <p:spPr>
          <a:xfrm>
            <a:off x="2011680" y="4846320"/>
            <a:ext cx="8165592" cy="36576"/>
          </a:xfrm>
          <a:prstGeom prst="rect">
            <a:avLst/>
          </a:prstGeom>
          <a:solidFill>
            <a:srgbClr val="2E545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sp>
        <p:nvSpPr>
          <p:cNvPr id="30" name="Badge"/>
          <p:cNvSpPr/>
          <p:nvPr/>
        </p:nvSpPr>
        <p:spPr>
          <a:xfrm>
            <a:off x="1755648" y="4590288"/>
            <a:ext cx="512064" cy="512064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1" name="Icon TbPlayerPlay" descr="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63181" y="4697821"/>
            <a:ext cx="296997" cy="296997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822960" y="52120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Mid-October 2026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Commencement</a:t>
            </a:r>
          </a:p>
        </p:txBody>
      </p:sp>
      <p:sp>
        <p:nvSpPr>
          <p:cNvPr id="33" name="Badge"/>
          <p:cNvSpPr/>
          <p:nvPr/>
        </p:nvSpPr>
        <p:spPr>
          <a:xfrm>
            <a:off x="5838444" y="4590288"/>
            <a:ext cx="512064" cy="512064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4" name="Icon TbPencilCheck" descr="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45977" y="4697821"/>
            <a:ext cx="296997" cy="296997"/>
          </a:xfrm>
          <a:prstGeom prst="rect">
            <a:avLst/>
          </a:prstGeom>
        </p:spPr>
      </p:pic>
      <p:sp>
        <p:nvSpPr>
          <p:cNvPr id="35" name="Text"/>
          <p:cNvSpPr txBox="1"/>
          <p:nvPr/>
        </p:nvSpPr>
        <p:spPr>
          <a:xfrm>
            <a:off x="4905756" y="52120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End-February 2027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Draft report completed</a:t>
            </a:r>
          </a:p>
        </p:txBody>
      </p:sp>
      <p:sp>
        <p:nvSpPr>
          <p:cNvPr id="36" name="Badge"/>
          <p:cNvSpPr/>
          <p:nvPr/>
        </p:nvSpPr>
        <p:spPr>
          <a:xfrm>
            <a:off x="9921240" y="4590288"/>
            <a:ext cx="512064" cy="512064"/>
          </a:xfrm>
          <a:prstGeom prst="ellipse">
            <a:avLst/>
          </a:prstGeom>
          <a:solidFill>
            <a:srgbClr val="B55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/>
          </a:p>
        </p:txBody>
      </p:sp>
      <p:pic>
        <p:nvPicPr>
          <p:cNvPr id="37" name="Icon TbCircleCheck" descr="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28773" y="4697821"/>
            <a:ext cx="296997" cy="296997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8988552" y="52120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Mid-March 2027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400" b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Report finalised</a:t>
            </a:r>
          </a:p>
        </p:txBody>
      </p:sp>
      <p:sp>
        <p:nvSpPr>
          <p:cNvPr id="39" name="Pixel house"/>
          <p:cNvSpPr/>
          <p:nvPr/>
        </p:nvSpPr>
        <p:spPr>
          <a:xfrm>
            <a:off x="11365992" y="612648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5" h="5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</a:path>
            </a:pathLst>
          </a:custGeom>
          <a:solidFill>
            <a:srgbClr val="B5502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Pixel house"/>
          <p:cNvSpPr/>
          <p:nvPr/>
        </p:nvSpPr>
        <p:spPr>
          <a:xfrm>
            <a:off x="10506456" y="5907024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7" h="7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1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5" y="3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2" y="5"/>
                </a:move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  <a:moveTo>
                  <a:pt x="5" y="5"/>
                </a:move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Pixel house"/>
          <p:cNvSpPr/>
          <p:nvPr/>
        </p:nvSpPr>
        <p:spPr>
          <a:xfrm>
            <a:off x="9866376" y="6016752"/>
            <a:ext cx="548640" cy="658368"/>
          </a:xfrm>
          <a:custGeom>
            <a:avLst/>
            <a:gdLst/>
            <a:ahLst/>
            <a:cxnLst/>
            <a:rect l="0" t="0" r="r" b="b"/>
            <a:pathLst>
              <a:path w="5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1" y="1"/>
                </a:move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close/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1" y="4"/>
                </a:move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1" y="5"/>
                </a:move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4" y="5"/>
                </a:move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close/>
              </a:path>
            </a:pathLst>
          </a:custGeom>
          <a:solidFill>
            <a:srgbClr val="17383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801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8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023360" cy="22311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749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68680" y="4526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William Hynes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55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Director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98080" y="4526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A9BC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info@spatialis.ie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A9BC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Baggot St. Lwr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A9BC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spatialis.ie   ·   Dublin, Ireland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atialis">
      <a:dk1>
        <a:sysClr val="windowText" lastClr="000000"/>
      </a:dk1>
      <a:lt1>
        <a:sysClr val="window" lastClr="FFFFFF"/>
      </a:lt1>
      <a:dk2>
        <a:srgbClr val="17383E"/>
      </a:dk2>
      <a:lt2>
        <a:srgbClr val="F3F4F1"/>
      </a:lt2>
      <a:accent1>
        <a:srgbClr val="17383E"/>
      </a:accent1>
      <a:accent2>
        <a:srgbClr val="B5502E"/>
      </a:accent2>
      <a:accent3>
        <a:srgbClr val="5F787C"/>
      </a:accent3>
      <a:accent4>
        <a:srgbClr val="3A4C50"/>
      </a:accent4>
      <a:accent5>
        <a:srgbClr val="2E545B"/>
      </a:accent5>
      <a:accent6>
        <a:srgbClr val="A9BCC0"/>
      </a:accent6>
      <a:hlink>
        <a:srgbClr val="B5502E"/>
      </a:hlink>
      <a:folHlink>
        <a:srgbClr val="5F787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EA111F712AB47ADBF94FF04DA0182" ma:contentTypeVersion="13" ma:contentTypeDescription="Create a new document." ma:contentTypeScope="" ma:versionID="3355d0ab4c74b2a2a497193a1e1d1b8a">
  <xsd:schema xmlns:xsd="http://www.w3.org/2001/XMLSchema" xmlns:xs="http://www.w3.org/2001/XMLSchema" xmlns:p="http://schemas.microsoft.com/office/2006/metadata/properties" xmlns:ns2="58634793-8a4a-4013-8e68-bd538c515a7e" xmlns:ns3="4834dd2e-4990-42f9-a6a3-c9d7356f7354" targetNamespace="http://schemas.microsoft.com/office/2006/metadata/properties" ma:root="true" ma:fieldsID="31625f9a093915574971d39cc5696e67" ns2:_="" ns3:_="">
    <xsd:import namespace="58634793-8a4a-4013-8e68-bd538c515a7e"/>
    <xsd:import namespace="4834dd2e-4990-42f9-a6a3-c9d7356f73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634793-8a4a-4013-8e68-bd538c515a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e23e627-0612-4a37-9e76-521f4842e5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4dd2e-4990-42f9-a6a3-c9d7356f735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2c0f3b3-91d5-4bc8-836f-f908981ce77a}" ma:internalName="TaxCatchAll" ma:showField="CatchAllData" ma:web="4834dd2e-4990-42f9-a6a3-c9d7356f73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834dd2e-4990-42f9-a6a3-c9d7356f7354" xsi:nil="true"/>
    <lcf76f155ced4ddcb4097134ff3c332f xmlns="58634793-8a4a-4013-8e68-bd538c515a7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664571-9DAF-4F1B-8685-A4813A43CA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634793-8a4a-4013-8e68-bd538c515a7e"/>
    <ds:schemaRef ds:uri="4834dd2e-4990-42f9-a6a3-c9d7356f73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905932-F91C-4428-8B36-41C8B7C11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2528DC-9D0C-4D9B-87E0-45D09577D37C}">
  <ds:schemaRefs>
    <ds:schemaRef ds:uri="http://schemas.microsoft.com/office/2006/metadata/properties"/>
    <ds:schemaRef ds:uri="http://schemas.microsoft.com/office/infopath/2007/PartnerControls"/>
    <ds:schemaRef ds:uri="4834dd2e-4990-42f9-a6a3-c9d7356f7354"/>
    <ds:schemaRef ds:uri="385adff5-cd9e-4f2b-ae0e-c455f727d2ef"/>
    <ds:schemaRef ds:uri="58634793-8a4a-4013-8e68-bd538c515a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986</Words>
  <Application>Microsoft Office PowerPoint</Application>
  <PresentationFormat>Widescreen</PresentationFormat>
  <Paragraphs>121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IBM Plex Mono</vt:lpstr>
      <vt:lpstr>IBM Plex Sans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William Hynes</cp:lastModifiedBy>
  <cp:revision>37</cp:revision>
  <dcterms:created xsi:type="dcterms:W3CDTF">2026-07-24T13:21:22Z</dcterms:created>
  <dcterms:modified xsi:type="dcterms:W3CDTF">2026-10-20T14:53:53Z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0x010100EB4EA111F712AB47ADBF94FF04DA0182</vt:lpwstr>
  </property>
  <property fmtid="{D5CDD505-2E9C-101B-9397-08002B2CF9AE}" pid="3" name="MediaServiceImageTags">
    <vt:lpwstr/>
  </property>
</Properties>
</file>